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 Left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 Layout"/>
          <p:cNvSpPr/>
          <p:nvPr/>
        </p:nvSpPr>
        <p:spPr>
          <a:xfrm>
            <a:off x="457200" y="34671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457200" y="2419350"/>
            <a:ext cx="82296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600"/>
            </a:lvl1pPr>
          </a:lstStyle>
          <a:p>
            <a:r>
              <a:rPr lang="ko-K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ubtitle-slot Placeholder"/>
          <p:cNvSpPr>
            <a:spLocks noGrp="1"/>
          </p:cNvSpPr>
          <p:nvPr>
            <p:ph type="subTitle" idx="2"/>
          </p:nvPr>
        </p:nvSpPr>
        <p:spPr>
          <a:xfrm>
            <a:off x="457200" y="1143000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 Four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rule Layout"/>
          <p:cNvSpPr/>
          <p:nvPr/>
        </p:nvSpPr>
        <p:spPr>
          <a:xfrm>
            <a:off x="457200" y="13811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200"/>
            </a:lvl1pPr>
          </a:lstStyle>
          <a:p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457200" y="93345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footer-rule Layout"/>
          <p:cNvSpPr/>
          <p:nvPr/>
        </p:nvSpPr>
        <p:spPr>
          <a:xfrm>
            <a:off x="457200" y="62198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6668">
            <a:solidFill>
              <a:schemeClr val="accent2"/>
            </a:solidFill>
          </a:ln>
        </p:spPr>
      </p:sp>
      <p:sp>
        <p:nvSpPr>
          <p:cNvPr id="4" name="column-divider-1 Layout"/>
          <p:cNvSpPr/>
          <p:nvPr/>
        </p:nvSpPr>
        <p:spPr>
          <a:xfrm>
            <a:off x="3200400" y="21336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5" name="column-divider-2 Layout"/>
          <p:cNvSpPr/>
          <p:nvPr/>
        </p:nvSpPr>
        <p:spPr>
          <a:xfrm>
            <a:off x="6019800" y="21336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6" name="title-slot Placeholder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summary-slot Placeholder"/>
          <p:cNvSpPr>
            <a:spLocks noGrp="1"/>
          </p:cNvSpPr>
          <p:nvPr>
            <p:ph type="body" idx="4"/>
          </p:nvPr>
        </p:nvSpPr>
        <p:spPr>
          <a:xfrm>
            <a:off x="457200" y="1104900"/>
            <a:ext cx="82296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body-1 Placeholder"/>
          <p:cNvSpPr>
            <a:spLocks noGrp="1"/>
          </p:cNvSpPr>
          <p:nvPr>
            <p:ph type="body" idx="1"/>
          </p:nvPr>
        </p:nvSpPr>
        <p:spPr>
          <a:xfrm>
            <a:off x="609600" y="2095500"/>
            <a:ext cx="23622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body-2 Placeholder"/>
          <p:cNvSpPr>
            <a:spLocks noGrp="1"/>
          </p:cNvSpPr>
          <p:nvPr>
            <p:ph type="body" idx="2"/>
          </p:nvPr>
        </p:nvSpPr>
        <p:spPr>
          <a:xfrm>
            <a:off x="3429000" y="2095500"/>
            <a:ext cx="23622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body-3 Placeholder"/>
          <p:cNvSpPr>
            <a:spLocks noGrp="1"/>
          </p:cNvSpPr>
          <p:nvPr>
            <p:ph type="body" idx="3"/>
          </p:nvPr>
        </p:nvSpPr>
        <p:spPr>
          <a:xfrm>
            <a:off x="6248400" y="2095500"/>
            <a:ext cx="2286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takeaway-slot Placeholder"/>
          <p:cNvSpPr>
            <a:spLocks noGrp="1"/>
          </p:cNvSpPr>
          <p:nvPr>
            <p:ph type="body" idx="5"/>
          </p:nvPr>
        </p:nvSpPr>
        <p:spPr>
          <a:xfrm>
            <a:off x="457200" y="523875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3A86DECA-C88F-4BD9-B10A-83067770EF8B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id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457200" y="93345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footer-rule Layout"/>
          <p:cNvSpPr/>
          <p:nvPr/>
        </p:nvSpPr>
        <p:spPr>
          <a:xfrm>
            <a:off x="457200" y="62198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6668">
            <a:solidFill>
              <a:schemeClr val="accent2"/>
            </a:solidFill>
          </a:ln>
        </p:spPr>
      </p:sp>
      <p:sp>
        <p:nvSpPr>
          <p:cNvPr id="4" name="comparison-divider Layout"/>
          <p:cNvSpPr/>
          <p:nvPr/>
        </p:nvSpPr>
        <p:spPr>
          <a:xfrm>
            <a:off x="4572000" y="1971675"/>
            <a:ext cx="9525" cy="3000375"/>
          </a:xfrm>
          <a:custGeom>
            <a:avLst/>
            <a:gdLst/>
            <a:ahLst/>
            <a:cxnLst/>
            <a:rect l="l" t="t" r="r" b="b"/>
            <a:pathLst>
              <a:path w="9525" h="3000375">
                <a:moveTo>
                  <a:pt x="0" y="0"/>
                </a:moveTo>
                <a:lnTo>
                  <a:pt x="0" y="3000375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5" name="comparison-left-rule Layout"/>
          <p:cNvSpPr/>
          <p:nvPr/>
        </p:nvSpPr>
        <p:spPr>
          <a:xfrm>
            <a:off x="457200" y="2667000"/>
            <a:ext cx="3848100" cy="9525"/>
          </a:xfrm>
          <a:custGeom>
            <a:avLst/>
            <a:gdLst/>
            <a:ahLst/>
            <a:cxnLst/>
            <a:rect l="l" t="t" r="r" b="b"/>
            <a:pathLst>
              <a:path w="3848100" h="9525">
                <a:moveTo>
                  <a:pt x="0" y="0"/>
                </a:moveTo>
                <a:lnTo>
                  <a:pt x="3848100" y="0"/>
                </a:lnTo>
              </a:path>
            </a:pathLst>
          </a:custGeom>
          <a:noFill/>
          <a:ln w="19050">
            <a:solidFill>
              <a:schemeClr val="dk2"/>
            </a:solidFill>
          </a:ln>
        </p:spPr>
      </p:sp>
      <p:sp>
        <p:nvSpPr>
          <p:cNvPr id="6" name="comparison-right-rule Layout"/>
          <p:cNvSpPr/>
          <p:nvPr/>
        </p:nvSpPr>
        <p:spPr>
          <a:xfrm>
            <a:off x="4838700" y="2667000"/>
            <a:ext cx="3848100" cy="9525"/>
          </a:xfrm>
          <a:custGeom>
            <a:avLst/>
            <a:gdLst/>
            <a:ahLst/>
            <a:cxnLst/>
            <a:rect l="l" t="t" r="r" b="b"/>
            <a:pathLst>
              <a:path w="3848100" h="9525">
                <a:moveTo>
                  <a:pt x="0" y="0"/>
                </a:moveTo>
                <a:lnTo>
                  <a:pt x="38481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7" name="title-slot Placeholder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summary-slot Placeholder"/>
          <p:cNvSpPr>
            <a:spLocks noGrp="1"/>
          </p:cNvSpPr>
          <p:nvPr>
            <p:ph type="body" idx="4"/>
          </p:nvPr>
        </p:nvSpPr>
        <p:spPr>
          <a:xfrm>
            <a:off x="457200" y="1104900"/>
            <a:ext cx="82296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body-1 Placeholder"/>
          <p:cNvSpPr>
            <a:spLocks noGrp="1"/>
          </p:cNvSpPr>
          <p:nvPr>
            <p:ph type="body" idx="1"/>
          </p:nvPr>
        </p:nvSpPr>
        <p:spPr>
          <a:xfrm>
            <a:off x="457200" y="1847850"/>
            <a:ext cx="38481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body-2 Placeholder"/>
          <p:cNvSpPr>
            <a:spLocks noGrp="1"/>
          </p:cNvSpPr>
          <p:nvPr>
            <p:ph type="body" idx="2"/>
          </p:nvPr>
        </p:nvSpPr>
        <p:spPr>
          <a:xfrm>
            <a:off x="4838700" y="1847850"/>
            <a:ext cx="38481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takeaway-slot Placeholder"/>
          <p:cNvSpPr>
            <a:spLocks noGrp="1"/>
          </p:cNvSpPr>
          <p:nvPr>
            <p:ph type="body" idx="5"/>
          </p:nvPr>
        </p:nvSpPr>
        <p:spPr>
          <a:xfrm>
            <a:off x="457200" y="523875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D8A3B36E-C124-4EA7-8F0A-99F206CBB59D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ule Layout"/>
          <p:cNvSpPr/>
          <p:nvPr/>
        </p:nvSpPr>
        <p:spPr>
          <a:xfrm>
            <a:off x="457200" y="34671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closing-title-slot Placeholder"/>
          <p:cNvSpPr>
            <a:spLocks noGrp="1"/>
          </p:cNvSpPr>
          <p:nvPr>
            <p:ph type="title"/>
          </p:nvPr>
        </p:nvSpPr>
        <p:spPr>
          <a:xfrm>
            <a:off x="914400" y="2514600"/>
            <a:ext cx="73152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200"/>
            </a:lvl1pPr>
          </a:lstStyle>
          <a:p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closing-subtitle-slot Placeholder"/>
          <p:cNvSpPr>
            <a:spLocks noGrp="1"/>
          </p:cNvSpPr>
          <p:nvPr>
            <p:ph type="subTitle" idx="2"/>
          </p:nvPr>
        </p:nvSpPr>
        <p:spPr>
          <a:xfrm>
            <a:off x="1524000" y="3695700"/>
            <a:ext cx="60960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D89C689F-398D-484D-8469-E4D59174E2F6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oces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457200" y="93345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" name="footer-rule Layout"/>
          <p:cNvSpPr/>
          <p:nvPr/>
        </p:nvSpPr>
        <p:spPr>
          <a:xfrm>
            <a:off x="457200" y="6219825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6668">
            <a:solidFill>
              <a:schemeClr val="accent2"/>
            </a:solidFill>
          </a:ln>
        </p:spPr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ummary-slot Placeholder"/>
          <p:cNvSpPr>
            <a:spLocks noGrp="1"/>
          </p:cNvSpPr>
          <p:nvPr>
            <p:ph type="body" idx="4"/>
          </p:nvPr>
        </p:nvSpPr>
        <p:spPr>
          <a:xfrm>
            <a:off x="457200" y="11049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takeaway-slot Placeholder"/>
          <p:cNvSpPr>
            <a:spLocks noGrp="1"/>
          </p:cNvSpPr>
          <p:nvPr>
            <p:ph type="body" idx="5"/>
          </p:nvPr>
        </p:nvSpPr>
        <p:spPr>
          <a:xfrm>
            <a:off x="457200" y="5238750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00"/>
            </a:lvl1pPr>
          </a:lstStyle>
          <a:p>
            <a:pPr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10"/>
          </p:nvPr>
        </p:nvSpPr>
        <p:spPr>
          <a:xfrm>
            <a:off x="4438650" y="64389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00"/>
            </a:lvl1pPr>
          </a:lstStyle>
          <a:p>
            <a:fld id="{D0DCA9D9-FA5B-4066-876E-76ABC73872C9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a437393adcf4bcf6.png"/>
  <Relationship Id="rId14" Type="http://schemas.openxmlformats.org/officeDocument/2006/relationships/slideLayout" Target="../slideLayouts/slideLayout12.xml"/>
  <Relationship Id="rId15" Type="http://schemas.openxmlformats.org/officeDocument/2006/relationships/slideLayout" Target="../slideLayouts/slideLayout13.xml"/>
  <Relationship Id="rId16" Type="http://schemas.openxmlformats.org/officeDocument/2006/relationships/slideLayout" Target="../slideLayouts/slideLayout14.xml"/>
  <Relationship Id="rId17" Type="http://schemas.openxmlformats.org/officeDocument/2006/relationships/slideLayout" Target="../slideLayouts/slideLayout15.xml"/>
  <Relationship Id="rId18" Type="http://schemas.openxmlformats.org/officeDocument/2006/relationships/slideLayout" Target="../slideLayouts/slideLayout16.xml"/>
  <Relationship Id="rId19" Type="http://schemas.openxmlformats.org/officeDocument/2006/relationships/slideLayout" Target="../slideLayouts/slideLayout17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App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6438900"/>
            <a:ext cx="2190750" cy="168212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400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a437393adcf4bcf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a437393adcf4bcf6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a437393adcf4bcf6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a437393adcf4bcf6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a437393adcf4bcf6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a437393adcf4bcf6.png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/>
          <p:nvPr>
            <p:ph type="title"/>
          </p:nvPr>
        </p:nvSpPr>
        <p:spPr>
          <a:xfrm>
            <a:off x="438912" y="2611755"/>
            <a:ext cx="466051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활용, 한 단계 더</a:t>
            </a:r>
          </a:p>
        </p:txBody>
      </p:sp>
      <p:sp>
        <p:nvSpPr>
          <p:cNvPr id="6" name="subtitle-slot Placeholder Carrier"/>
          <p:cNvSpPr txBox="1"/>
          <p:nvPr>
            <p:ph type="subTitle" idx="2"/>
          </p:nvPr>
        </p:nvSpPr>
        <p:spPr>
          <a:xfrm>
            <a:off x="448056" y="1291590"/>
            <a:ext cx="246339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제OOO회 수요연수회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0087" y="4220818"/>
            <a:ext cx="1418564" cy="273861"/>
            <a:chOff x="450087" y="4220818"/>
            <a:chExt cx="1418564" cy="273861"/>
          </a:xfrm>
        </p:grpSpPr>
        <p:sp>
          <p:nvSpPr>
            <p:cNvPr id="8" name="TextBox 8"/>
            <p:cNvSpPr txBox="1"/>
            <p:nvPr/>
          </p:nvSpPr>
          <p:spPr>
            <a:xfrm>
              <a:off x="450087" y="4220818"/>
              <a:ext cx="1418564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2026년 9월 30일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0087" y="4544668"/>
            <a:ext cx="956735" cy="273861"/>
            <a:chOff x="450087" y="4544668"/>
            <a:chExt cx="956735" cy="273861"/>
          </a:xfrm>
        </p:grpSpPr>
        <p:sp>
          <p:nvSpPr>
            <p:cNvPr id="10" name="TextBox 10"/>
            <p:cNvSpPr txBox="1"/>
            <p:nvPr/>
          </p:nvSpPr>
          <p:spPr>
            <a:xfrm>
              <a:off x="450087" y="4544668"/>
              <a:ext cx="956735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기술연구소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0087" y="4868518"/>
            <a:ext cx="1013285" cy="273861"/>
            <a:chOff x="450087" y="4868518"/>
            <a:chExt cx="1013285" cy="273861"/>
          </a:xfrm>
        </p:grpSpPr>
        <p:sp>
          <p:nvSpPr>
            <p:cNvPr id="12" name="TextBox 12"/>
            <p:cNvSpPr txBox="1"/>
            <p:nvPr/>
          </p:nvSpPr>
          <p:spPr>
            <a:xfrm>
              <a:off x="450087" y="4868518"/>
              <a:ext cx="1013285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성진영 프로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/>
          <p:nvPr>
            <p:ph type="title"/>
          </p:nvPr>
        </p:nvSpPr>
        <p:spPr>
          <a:xfrm>
            <a:off x="440943" y="721333"/>
            <a:ext cx="937232" cy="6259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목차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57200" y="1923098"/>
            <a:ext cx="8229600" cy="486727"/>
            <a:chOff x="457200" y="1923098"/>
            <a:chExt cx="8229600" cy="486727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923098"/>
              <a:ext cx="33066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활용, 어디까지 왔을까?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57200" y="240030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57200" y="2742248"/>
            <a:ext cx="8229600" cy="486727"/>
            <a:chOff x="457200" y="2742248"/>
            <a:chExt cx="8229600" cy="486727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2742248"/>
              <a:ext cx="48737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어떻게 하면 AI를 진짜 잘 쓸 수 있을까?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57200" y="321945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57200" y="3561398"/>
            <a:ext cx="8229600" cy="486727"/>
            <a:chOff x="457200" y="3561398"/>
            <a:chExt cx="8229600" cy="486727"/>
          </a:xfrm>
        </p:grpSpPr>
        <p:sp>
          <p:nvSpPr>
            <p:cNvPr id="12" name="TextBox 12"/>
            <p:cNvSpPr txBox="1"/>
            <p:nvPr/>
          </p:nvSpPr>
          <p:spPr>
            <a:xfrm>
              <a:off x="599694" y="3561398"/>
              <a:ext cx="49708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라이브 시연: SKILL·AGENT·PLUGIN 활용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57200" y="403860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9694" y="4380548"/>
            <a:ext cx="5983224" cy="381381"/>
            <a:chOff x="599694" y="4380548"/>
            <a:chExt cx="5983224" cy="381381"/>
          </a:xfrm>
        </p:grpSpPr>
        <p:sp>
          <p:nvSpPr>
            <p:cNvPr id="15" name="TextBox 15"/>
            <p:cNvSpPr txBox="1"/>
            <p:nvPr/>
          </p:nvSpPr>
          <p:spPr>
            <a:xfrm>
              <a:off x="599694" y="4380548"/>
              <a:ext cx="59832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질문이 없을 때: 지속 가능한 AI 협업 워크플로우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427195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활용, 어디까지 왔을까?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13243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텍스트 한 줄로 시공간을 넘나드는 고품질 영상을 구현하는 시대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296768"/>
            <a:ext cx="2130424" cy="16645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영상 사례 1: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타임머신 여행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텍스트 프롬프트 기반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역사적 시공간 초고속 복원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사실적 영상 자동 생성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296768"/>
            <a:ext cx="2005942" cy="16645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영상 사례 2: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산업 현장 AI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도면·사진 3D 변환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회의록 화자 분리 및 요약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단순 작업 즉각 자동화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296768"/>
            <a:ext cx="1952593" cy="16645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임직원을 위한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시사점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연구용 기술 탈피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실무에 즉시 투입 가능한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일상 업무 가속 도구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798443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핵심: AI는 상상을 시각화하고 단순 업무를 초고속화하는 실전 도구입니다.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3</a:t>
            </a:fld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55265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우리가 AI를 쓰며 느끼는 흔한 좌절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347789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기대와 다른 두루뭉술한 답변과 매번 반복되는 설명에 지치는 현실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458693"/>
            <a:ext cx="1819219" cy="1626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70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두루뭉술한 답변</a:t>
            </a:r>
          </a:p>
          <a:p>
            <a:pPr algn="l" marL="0" indent="0">
              <a:lnSpc>
                <a:spcPts val="2700"/>
              </a:lnSpc>
              <a:spcBef>
                <a:spcPts val="25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교과서적 일반론 나열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사내 맥락·규정 미반영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“알아서 써줘”의 한계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458693"/>
            <a:ext cx="2352714" cy="1626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70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반복 설명의 피로</a:t>
            </a:r>
          </a:p>
          <a:p>
            <a:pPr algn="l" marL="0" indent="0">
              <a:lnSpc>
                <a:spcPts val="2700"/>
              </a:lnSpc>
              <a:spcBef>
                <a:spcPts val="25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새 대화창마다 복사·붙여넣기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서식·규칙 재설명 피로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세션 종료 시 기억 망각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458693"/>
            <a:ext cx="1792544" cy="1626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700"/>
              </a:lnSpc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실무 적용 포기</a:t>
            </a:r>
          </a:p>
          <a:p>
            <a:pPr algn="l" marL="0" indent="0">
              <a:lnSpc>
                <a:spcPts val="2700"/>
              </a:lnSpc>
              <a:spcBef>
                <a:spcPts val="25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“그냥 내가 쓰고 말지”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결국 수작업으로 회귀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도구 활용의 단절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7482687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원인은 AI의 한계가 아닌, '일 시키는 방식(디렉팅)'의 부재였습니다.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4</a:t>
            </a:fld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62971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어떻게 하면 AI를 진짜 잘 쓸 수 있을까?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7172652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AI는 자판기가 아니라, 사내 맥락을 모르는 '유능한 신입 사원'입니다.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296768"/>
            <a:ext cx="1834779" cy="1721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배경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en-US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(Context)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작성 목적 &amp; 보고 대상</a:t>
            </a:r>
          </a:p>
          <a:p>
            <a:pPr algn="l" marL="0" indent="0">
              <a:lnSpc>
                <a:spcPts val="2250"/>
              </a:lnSpc>
              <a:spcBef>
                <a:spcPts val="4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사내 상황과 타깃을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명확히 사전 공유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296768"/>
            <a:ext cx="1834779" cy="1721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제약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en-US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(Constraints)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필수 포함 &amp; 금지 기준</a:t>
            </a:r>
          </a:p>
          <a:p>
            <a:pPr algn="l" marL="0" indent="0">
              <a:lnSpc>
                <a:spcPts val="2250"/>
              </a:lnSpc>
              <a:spcBef>
                <a:spcPts val="4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분량 제한·핵심 수치·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주의사항 사전 지정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296768"/>
            <a:ext cx="1862788" cy="1721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250"/>
              </a:lnSpc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완료 기준</a:t>
            </a:r>
          </a:p>
          <a:p>
            <a:pPr algn="l" marL="0" indent="0">
              <a:lnSpc>
                <a:spcPts val="2250"/>
              </a:lnSpc>
              <a:spcBef>
                <a:spcPts val="225"/>
              </a:spcBef>
              <a:buNone/>
            </a:pPr>
            <a:r>
              <a:rPr lang="en-US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(Format)</a:t>
            </a:r>
          </a:p>
          <a:p>
            <a:pPr algn="l" marL="0" indent="0">
              <a:lnSpc>
                <a:spcPts val="2250"/>
              </a:lnSpc>
              <a:spcBef>
                <a:spcPts val="17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최종 출력 양식 규격화</a:t>
            </a:r>
          </a:p>
          <a:p>
            <a:pPr algn="l" marL="0" indent="0">
              <a:lnSpc>
                <a:spcPts val="2250"/>
              </a:lnSpc>
              <a:spcBef>
                <a:spcPts val="450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3줄 요약·표 형식 지정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(AI 자체 검증 유도)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747842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핵심은 배경·제약·완료조건 3가지를 명확히 분리하여 지시하는 것입니다.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5</a:t>
            </a:fld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slot Placeholder Carrier"/>
          <p:cNvSpPr txBox="1"/>
          <p:nvPr>
            <p:ph type="title"/>
          </p:nvPr>
        </p:nvSpPr>
        <p:spPr>
          <a:xfrm>
            <a:off x="445008" y="426720"/>
            <a:ext cx="494339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프롬프트 작성 전과 후 비교 예시</a:t>
            </a:r>
          </a:p>
        </p:txBody>
      </p:sp>
      <p:sp>
        <p:nvSpPr>
          <p:cNvPr id="10" name="summary-slot Placeholder Carrier"/>
          <p:cNvSpPr txBox="1"/>
          <p:nvPr>
            <p:ph type="body" idx="4"/>
          </p:nvPr>
        </p:nvSpPr>
        <p:spPr>
          <a:xfrm>
            <a:off x="449073" y="1160807"/>
            <a:ext cx="8781338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공통 메모: 입고 5일 지연 · 조립 10/16 · 재고 12대 · 주 평균 출고 8대 · 고객 영향 확인 중</a:t>
            </a:r>
          </a:p>
        </p:txBody>
      </p:sp>
      <p:sp>
        <p:nvSpPr>
          <p:cNvPr id="12" name="body-1 Placeholder Carrier"/>
          <p:cNvSpPr txBox="1"/>
          <p:nvPr>
            <p:ph type="body" idx="1"/>
          </p:nvPr>
        </p:nvSpPr>
        <p:spPr>
          <a:xfrm>
            <a:off x="450087" y="2020543"/>
            <a:ext cx="2690594" cy="2093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1875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❌ 요약만 요청</a:t>
            </a:r>
          </a:p>
          <a:p>
            <a:pPr algn="l" marL="0" indent="0">
              <a:lnSpc>
                <a:spcPts val="1875"/>
              </a:lnSpc>
              <a:spcBef>
                <a:spcPts val="375"/>
              </a:spcBef>
              <a:buNone/>
            </a:pPr>
            <a:r>
              <a:rPr lang="ko-KR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("보고용으로 정리해줘")</a:t>
            </a:r>
          </a:p>
          <a:p>
            <a:pPr algn="l" marL="0" indent="0">
              <a:lnSpc>
                <a:spcPts val="1875"/>
              </a:lnSpc>
              <a:spcBef>
                <a:spcPts val="1725"/>
              </a:spcBef>
              <a:buClr>
                <a:schemeClr val="dk1"/>
              </a:buClr>
              <a:buSzTx/>
              <a:buFontTx/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결과: 사실을 문장으로 재배열</a:t>
            </a:r>
          </a:p>
          <a:p>
            <a:pPr algn="l" marL="0" indent="0">
              <a:lnSpc>
                <a:spcPts val="1875"/>
              </a:lnSpc>
              <a:spcBef>
                <a:spcPts val="97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외주 설비 점검으로 부품 입고가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5일 지연되어 조립은 10/16 예정.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재고 12대, 주 평균 출고 8대이며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고객 영향·대체 일정은 확인 중.</a:t>
            </a:r>
          </a:p>
        </p:txBody>
      </p:sp>
      <p:sp>
        <p:nvSpPr>
          <p:cNvPr id="14" name="body-2 Placeholder Carrier"/>
          <p:cNvSpPr txBox="1"/>
          <p:nvPr>
            <p:ph type="body" idx="2"/>
          </p:nvPr>
        </p:nvSpPr>
        <p:spPr>
          <a:xfrm>
            <a:off x="4831587" y="2020543"/>
            <a:ext cx="3055149" cy="2864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1950"/>
              </a:lnSpc>
              <a:buNone/>
            </a:pPr>
            <a:r>
              <a:rPr lang="ko-KR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⭕ 판단까지 요청</a:t>
            </a:r>
          </a:p>
          <a:p>
            <a:pPr algn="l" marL="0" indent="0">
              <a:lnSpc>
                <a:spcPts val="1950"/>
              </a:lnSpc>
              <a:spcBef>
                <a:spcPts val="300"/>
              </a:spcBef>
              <a:buNone/>
            </a:pPr>
            <a:r>
              <a:rPr lang="ko-KR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(목적·계산·조치·제약 지정)</a:t>
            </a:r>
          </a:p>
          <a:p>
            <a:pPr algn="l" marL="0" indent="0">
              <a:lnSpc>
                <a:spcPts val="1950"/>
              </a:lnSpc>
              <a:spcBef>
                <a:spcPts val="1425"/>
              </a:spcBef>
              <a:buClr>
                <a:schemeClr val="dk1"/>
              </a:buClr>
              <a:buSzTx/>
              <a:buFontTx/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지시: "팀장용 리스크 브리프 작성.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확정 사실·영향·미확정을 구분하고,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재고 여력을 계산해. 우선 조치 제안.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고객 영향·일정·담당자는 추정 금지."</a:t>
            </a:r>
          </a:p>
          <a:p>
            <a:pPr algn="l" marL="0" indent="0">
              <a:lnSpc>
                <a:spcPts val="1950"/>
              </a:lnSpc>
              <a:spcBef>
                <a:spcPts val="450"/>
              </a:spcBef>
              <a:buClr>
                <a:schemeClr val="accent1"/>
              </a:buClr>
              <a:buSzTx/>
              <a:buFontTx/>
              <a:buNone/>
            </a:pPr>
            <a:r>
              <a:rPr lang="ko-KR" sz="1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결과: 판단에 필요한 요점</a:t>
            </a:r>
          </a:p>
          <a:p>
            <a:pPr algn="l" marL="0" indent="0">
              <a:lnSpc>
                <a:spcPts val="1950"/>
              </a:lnSpc>
              <a:spcBef>
                <a:spcPts val="2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재고 여력 약 1.5주분</a:t>
            </a:r>
          </a:p>
          <a:p>
            <a:pPr algn="l" marL="0" indent="0">
              <a:lnSpc>
                <a:spcPts val="1950"/>
              </a:lnSpc>
              <a:spcBef>
                <a:spcPts val="2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고객 영향·대체 일정: 확인 필요</a:t>
            </a:r>
          </a:p>
          <a:p>
            <a:pPr algn="l" marL="0" indent="0">
              <a:lnSpc>
                <a:spcPts val="1950"/>
              </a:lnSpc>
              <a:spcBef>
                <a:spcPts val="22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우선 조치: 고객별 납기 확인</a:t>
            </a:r>
          </a:p>
        </p:txBody>
      </p:sp>
      <p:sp>
        <p:nvSpPr>
          <p:cNvPr id="16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6856573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요약을 넘어 분석과 판단을 요청하면 업무에 바로 쓸 결과가 됩니다.</a:t>
            </a:r>
          </a:p>
        </p:txBody>
      </p:sp>
      <p:sp>
        <p:nvSpPr>
          <p:cNvPr id="18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6</a:t>
            </a:fld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slot Placeholder Carrier"/>
          <p:cNvSpPr txBox="1"/>
          <p:nvPr>
            <p:ph type="title"/>
          </p:nvPr>
        </p:nvSpPr>
        <p:spPr>
          <a:xfrm>
            <a:off x="445008" y="426720"/>
            <a:ext cx="65887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한 단계 더: 단발성 질문을 넘어 시스템으로</a:t>
            </a:r>
          </a:p>
        </p:txBody>
      </p:sp>
      <p:sp>
        <p:nvSpPr>
          <p:cNvPr id="9" name="summary-slot Placeholder Carrier"/>
          <p:cNvSpPr txBox="1"/>
          <p:nvPr>
            <p:ph type="body" idx="4"/>
          </p:nvPr>
        </p:nvSpPr>
        <p:spPr>
          <a:xfrm>
            <a:off x="449073" y="1160807"/>
            <a:ext cx="7122092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도구(Tool), 스킬(Skill), 에이전트(Agent)의 결합으로 완성하는 자동화</a:t>
            </a:r>
          </a:p>
        </p:txBody>
      </p:sp>
      <p:sp>
        <p:nvSpPr>
          <p:cNvPr id="11" name="body-1 Placeholder Carrier"/>
          <p:cNvSpPr txBox="1"/>
          <p:nvPr>
            <p:ph type="body" idx="1"/>
          </p:nvPr>
        </p:nvSpPr>
        <p:spPr>
          <a:xfrm>
            <a:off x="602487" y="2392018"/>
            <a:ext cx="2228232" cy="17311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550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스킬 (Skill)</a:t>
            </a:r>
          </a:p>
          <a:p>
            <a:pPr algn="l" marL="0" indent="0">
              <a:lnSpc>
                <a:spcPts val="2550"/>
              </a:lnSpc>
              <a:spcBef>
                <a:spcPts val="2325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반복 업무 표준 매뉴얼 </a:t>
            </a: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규칙 영구 기억 (SOP)</a:t>
            </a:r>
          </a:p>
          <a:p>
            <a:pPr algn="l" marL="0" indent="0">
              <a:lnSpc>
                <a:spcPts val="2550"/>
              </a:lnSpc>
              <a:spcBef>
                <a:spcPts val="1500"/>
              </a:spcBef>
              <a:buNone/>
            </a:pP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예: 디프로매트 보고서 양식</a:t>
            </a:r>
          </a:p>
        </p:txBody>
      </p:sp>
      <p:sp>
        <p:nvSpPr>
          <p:cNvPr id="13" name="body-2 Placeholder Carrier"/>
          <p:cNvSpPr txBox="1"/>
          <p:nvPr>
            <p:ph type="body" idx="2"/>
          </p:nvPr>
        </p:nvSpPr>
        <p:spPr>
          <a:xfrm>
            <a:off x="3421887" y="2392018"/>
            <a:ext cx="2236234" cy="2007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175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에이전트 (Agent)</a:t>
            </a:r>
          </a:p>
          <a:p>
            <a:pPr algn="l" marL="0" indent="0">
              <a:lnSpc>
                <a:spcPts val="2175"/>
              </a:lnSpc>
              <a:spcBef>
                <a:spcPts val="2700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목표를 완수하는 전담 비서</a:t>
            </a:r>
          </a:p>
          <a:p>
            <a:pPr algn="l" marL="0" indent="0">
              <a:lnSpc>
                <a:spcPts val="2175"/>
              </a:lnSpc>
              <a:spcBef>
                <a:spcPts val="37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스스로 작업 수행</a:t>
            </a:r>
          </a:p>
          <a:p>
            <a:pPr algn="l" marL="0" indent="0">
              <a:lnSpc>
                <a:spcPts val="2175"/>
              </a:lnSpc>
              <a:spcBef>
                <a:spcPts val="1875"/>
              </a:spcBef>
              <a:buNone/>
            </a:pP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 xml:space="preserve">예: 회의록 요약, </a:t>
            </a: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품질 분석 담당</a:t>
            </a:r>
          </a:p>
        </p:txBody>
      </p:sp>
      <p:sp>
        <p:nvSpPr>
          <p:cNvPr id="15" name="body-3 Placeholder Carrier"/>
          <p:cNvSpPr txBox="1"/>
          <p:nvPr>
            <p:ph type="body" idx="3"/>
          </p:nvPr>
        </p:nvSpPr>
        <p:spPr>
          <a:xfrm>
            <a:off x="6241287" y="2392018"/>
            <a:ext cx="2152209" cy="2007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 marL="0" indent="0">
              <a:lnSpc>
                <a:spcPts val="2175"/>
              </a:lnSpc>
              <a:buNone/>
            </a:pPr>
            <a:r>
              <a:rPr lang="ko-KR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플러그인 (Plugin)</a:t>
            </a:r>
          </a:p>
          <a:p>
            <a:pPr algn="l" marL="0" indent="0">
              <a:lnSpc>
                <a:spcPts val="2175"/>
              </a:lnSpc>
              <a:spcBef>
                <a:spcPts val="2700"/>
              </a:spcBef>
              <a:buNone/>
            </a:pPr>
            <a:r>
              <a:rPr lang="ko-KR" sz="1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외부 도구·기능 연결 연장</a:t>
            </a:r>
          </a:p>
          <a:p>
            <a:pPr algn="l" marL="0" indent="0">
              <a:lnSpc>
                <a:spcPts val="2175"/>
              </a:lnSpc>
              <a:spcBef>
                <a:spcPts val="375"/>
              </a:spcBef>
              <a:buNone/>
            </a:pPr>
            <a:r>
              <a:rPr lang="ko-KR" sz="1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AI의 실행 손발</a:t>
            </a:r>
          </a:p>
          <a:p>
            <a:pPr algn="l" marL="0" indent="0">
              <a:lnSpc>
                <a:spcPts val="2175"/>
              </a:lnSpc>
              <a:spcBef>
                <a:spcPts val="1875"/>
              </a:spcBef>
              <a:buNone/>
            </a:pP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 xml:space="preserve">예: 파일 읽기·쓰기, </a:t>
            </a:r>
            <a:r>
              <a:rPr lang="ko-KR" sz="1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검색 도구</a:t>
            </a:r>
          </a:p>
        </p:txBody>
      </p:sp>
      <p:sp>
        <p:nvSpPr>
          <p:cNvPr id="17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8586439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비유하면: 스킬은 업무 매뉴얼, 에이전트는 전담 비서, 플러그인은 손발 도구입니다.</a:t>
            </a:r>
          </a:p>
        </p:txBody>
      </p:sp>
      <p:sp>
        <p:nvSpPr>
          <p:cNvPr id="19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7</a:t>
            </a:fld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sing-title-slot Placeholder Carrier"/>
          <p:cNvSpPr txBox="1"/>
          <p:nvPr>
            <p:ph type="title"/>
          </p:nvPr>
        </p:nvSpPr>
        <p:spPr>
          <a:xfrm>
            <a:off x="1807665" y="2759683"/>
            <a:ext cx="5528671" cy="6259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경청해 주셔서 감사합니다.</a:t>
            </a:r>
          </a:p>
        </p:txBody>
      </p:sp>
      <p:sp>
        <p:nvSpPr>
          <p:cNvPr id="6" name="closing-subtitle-slot Placeholder Carrier"/>
          <p:cNvSpPr txBox="1"/>
          <p:nvPr>
            <p:ph type="subTitle" idx="2"/>
          </p:nvPr>
        </p:nvSpPr>
        <p:spPr>
          <a:xfrm>
            <a:off x="3314795" y="3827807"/>
            <a:ext cx="2514410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( 질의응답 및 자유 토론 )</a:t>
            </a:r>
          </a:p>
        </p:txBody>
      </p:sp>
      <p:sp>
        <p:nvSpPr>
          <p:cNvPr id="8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8</a:t>
            </a:fld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slot Placeholder Carrier"/>
          <p:cNvSpPr txBox="1"/>
          <p:nvPr>
            <p:ph type="title"/>
          </p:nvPr>
        </p:nvSpPr>
        <p:spPr>
          <a:xfrm>
            <a:off x="445008" y="426720"/>
            <a:ext cx="506053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지속 가능한 AI 협업 워크플로우</a:t>
            </a:r>
          </a:p>
        </p:txBody>
      </p:sp>
      <p:sp>
        <p:nvSpPr>
          <p:cNvPr id="7" name="summary-slot Placeholder Carrier"/>
          <p:cNvSpPr txBox="1"/>
          <p:nvPr>
            <p:ph type="body" idx="4"/>
          </p:nvPr>
        </p:nvSpPr>
        <p:spPr>
          <a:xfrm>
            <a:off x="449073" y="1160807"/>
            <a:ext cx="6067823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업무의 발견부터 자산화까지 이어지는 전사 업무 선순환 사이클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0456" y="2205990"/>
            <a:ext cx="1516935" cy="945664"/>
            <a:chOff x="600456" y="2205990"/>
            <a:chExt cx="1516935" cy="945664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22059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문제 정의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487" y="2592043"/>
              <a:ext cx="1493965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귀찮음·관성 포착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487" y="2877793"/>
              <a:ext cx="1514904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Whys 본질 규명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19856" y="2205990"/>
            <a:ext cx="1693922" cy="945664"/>
            <a:chOff x="3419856" y="2205990"/>
            <a:chExt cx="1693922" cy="945664"/>
          </a:xfrm>
        </p:grpSpPr>
        <p:sp>
          <p:nvSpPr>
            <p:cNvPr id="13" name="TextBox 13"/>
            <p:cNvSpPr txBox="1"/>
            <p:nvPr/>
          </p:nvSpPr>
          <p:spPr>
            <a:xfrm>
              <a:off x="3419856" y="22059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공정 분해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1887" y="2592043"/>
              <a:ext cx="125833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큰 단위 업무를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1887" y="2877793"/>
              <a:ext cx="1691891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작은 원자 작업 분할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39256" y="2205990"/>
            <a:ext cx="1844724" cy="945664"/>
            <a:chOff x="6239256" y="2205990"/>
            <a:chExt cx="1844724" cy="945664"/>
          </a:xfrm>
        </p:grpSpPr>
        <p:sp>
          <p:nvSpPr>
            <p:cNvPr id="17" name="TextBox 17"/>
            <p:cNvSpPr txBox="1"/>
            <p:nvPr/>
          </p:nvSpPr>
          <p:spPr>
            <a:xfrm>
              <a:off x="6239256" y="22059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완료 기준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1287" y="2592043"/>
              <a:ext cx="125833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통과 조건 수립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41287" y="2877793"/>
              <a:ext cx="1842693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3줄 요약·양식 규격화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39256" y="3977640"/>
            <a:ext cx="1693922" cy="945664"/>
            <a:chOff x="6239256" y="3977640"/>
            <a:chExt cx="1693922" cy="945664"/>
          </a:xfrm>
        </p:grpSpPr>
        <p:sp>
          <p:nvSpPr>
            <p:cNvPr id="21" name="TextBox 21"/>
            <p:cNvSpPr txBox="1"/>
            <p:nvPr/>
          </p:nvSpPr>
          <p:spPr>
            <a:xfrm>
              <a:off x="6239256" y="3977640"/>
              <a:ext cx="1241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AI 실행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1287" y="4363693"/>
              <a:ext cx="125833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맥락 재료 투입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1287" y="4649443"/>
              <a:ext cx="1691891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스킬 기반 초안 도출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19856" y="3977640"/>
            <a:ext cx="1741048" cy="945664"/>
            <a:chOff x="3419856" y="3977640"/>
            <a:chExt cx="1741048" cy="945664"/>
          </a:xfrm>
        </p:grpSpPr>
        <p:sp>
          <p:nvSpPr>
            <p:cNvPr id="25" name="TextBox 25"/>
            <p:cNvSpPr txBox="1"/>
            <p:nvPr/>
          </p:nvSpPr>
          <p:spPr>
            <a:xfrm>
              <a:off x="3419856" y="3977640"/>
              <a:ext cx="1532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검토·확인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1887" y="4363693"/>
              <a:ext cx="1390289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디렉터 팩트체크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21887" y="4649443"/>
              <a:ext cx="173901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수치·논리 최종 검증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3977640"/>
            <a:ext cx="1722981" cy="945664"/>
            <a:chOff x="600456" y="3977640"/>
            <a:chExt cx="1722981" cy="945664"/>
          </a:xfrm>
        </p:grpSpPr>
        <p:sp>
          <p:nvSpPr>
            <p:cNvPr id="29" name="TextBox 29"/>
            <p:cNvSpPr txBox="1"/>
            <p:nvPr/>
          </p:nvSpPr>
          <p:spPr>
            <a:xfrm>
              <a:off x="600456" y="3977640"/>
              <a:ext cx="1722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6.</a:t>
              </a:r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지식 자산화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487" y="4363693"/>
              <a:ext cx="1390289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해결법 템플릿화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2487" y="4649443"/>
              <a:ext cx="1663616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다음 시간 50% 단축</a:t>
              </a:r>
            </a:p>
          </p:txBody>
        </p:sp>
      </p:grpSp>
      <p:sp>
        <p:nvSpPr>
          <p:cNvPr id="33" name="takeaway-slot Placeholder Carrier"/>
          <p:cNvSpPr txBox="1"/>
          <p:nvPr>
            <p:ph type="body" idx="5"/>
          </p:nvPr>
        </p:nvSpPr>
        <p:spPr>
          <a:xfrm>
            <a:off x="449073" y="5389907"/>
            <a:ext cx="8134186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핵심: 1회성 질문에 그치지 않고, 템플릿으로 자산화하여 복리 효율을 만듭니다.</a:t>
            </a:r>
          </a:p>
        </p:txBody>
      </p:sp>
      <p:sp>
        <p:nvSpPr>
          <p:cNvPr id="35" name="page-number Placeholder Carrier"/>
          <p:cNvSpPr txBox="1"/>
          <p:nvPr>
            <p:ph type="sldNum" idx="10"/>
          </p:nvPr>
        </p:nvSpPr>
        <p:spPr>
          <a:xfrm>
            <a:off x="4529910" y="6464327"/>
            <a:ext cx="84180" cy="1955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E687C9FC-B72A-4404-808D-226F3071AB63}" type="slidenum">
              <a:rPr lang="en-US" sz="10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9</a:t>
            </a:fld>
          </a:p>
        </p:txBody>
      </p:sp>
      <p:grpSp>
        <p:nvGrpSpPr>
          <p:cNvPr id="41" name="Group 41"/>
          <p:cNvGrpSpPr/>
          <p:nvPr/>
        </p:nvGrpSpPr>
        <p:grpSpPr>
          <a:xfrm>
            <a:off x="2895600" y="2381250"/>
            <a:ext cx="4495801" cy="1771651"/>
            <a:chOff x="2895600" y="2381250"/>
            <a:chExt cx="4495801" cy="1771651"/>
          </a:xfrm>
        </p:grpSpPr>
        <p:sp>
          <p:nvSpPr>
            <p:cNvPr id="36" name="Line 36"/>
            <p:cNvSpPr/>
            <p:nvPr/>
          </p:nvSpPr>
          <p:spPr>
            <a:xfrm>
              <a:off x="2895600" y="238125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37" name="Line 37"/>
            <p:cNvSpPr/>
            <p:nvPr/>
          </p:nvSpPr>
          <p:spPr>
            <a:xfrm>
              <a:off x="5715000" y="238125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>
              <a:off x="7391400" y="3200400"/>
              <a:ext cx="1" cy="581025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 flipH="1">
              <a:off x="5867400" y="415290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 flipH="1">
              <a:off x="3048000" y="4152900"/>
              <a:ext cx="381000" cy="1"/>
            </a:xfrm>
            <a:prstGeom prst="line">
              <a:avLst/>
            </a:prstGeom>
            <a:noFill/>
            <a:ln w="14288">
              <a:solidFill>
                <a:schemeClr val="dk2"/>
              </a:solidFill>
              <a:tailEnd type="triangle" w="lg" len="lg"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3018750" y="2275232"/>
            <a:ext cx="4456254" cy="2117036"/>
            <a:chOff x="3018750" y="2275232"/>
            <a:chExt cx="4456254" cy="2117036"/>
          </a:xfrm>
        </p:grpSpPr>
        <p:sp>
          <p:nvSpPr>
            <p:cNvPr id="42" name="TextBox 42"/>
            <p:cNvSpPr txBox="1"/>
            <p:nvPr/>
          </p:nvSpPr>
          <p:spPr>
            <a:xfrm>
              <a:off x="3018750" y="2275232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38150" y="2275232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 rot="5400000">
              <a:off x="7340303" y="3444010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 rot="10800000">
              <a:off x="5990550" y="4079389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 rot="10800000">
              <a:off x="3171150" y="4079389"/>
              <a:ext cx="134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464646"/>
      </a:dk1>
      <a:lt1>
        <a:srgbClr val="FFFFFF"/>
      </a:lt1>
      <a:dk2>
        <a:srgbClr val="69737D"/>
      </a:dk2>
      <a:lt2>
        <a:srgbClr val="F4F6F8"/>
      </a:lt2>
      <a:accent1>
        <a:srgbClr val="000000"/>
      </a:accent1>
      <a:accent2>
        <a:srgbClr val="DA1F28"/>
      </a:accent2>
      <a:accent3>
        <a:srgbClr val="39639D"/>
      </a:accent3>
      <a:accent4>
        <a:srgbClr val="D9DEE3"/>
      </a:accent4>
      <a:accent5>
        <a:srgbClr val="4BACC6"/>
      </a:accent5>
      <a:accent6>
        <a:srgbClr val="F79646"/>
      </a:accent6>
      <a:hlink>
        <a:srgbClr val="DA1F28"/>
      </a:hlink>
      <a:folHlink>
        <a:srgbClr val="39639D"/>
      </a:folHlink>
    </a:clrScheme>
    <a:fontScheme name="PPT Master">
      <a:majorFont>
        <a:latin typeface="맑은 고딕"/>
        <a:ea typeface="Malgun Gothic"/>
        <a:cs typeface="맑은 고딕"/>
        <a:font script="Jpan" typeface="Malgun Gothic"/>
        <a:font script="Hang" typeface="Malgun Gothic"/>
        <a:font script="Hans" typeface="Malgun Gothic"/>
        <a:font script="Hant" typeface="Malgun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Malgun Gothic"/>
        <a:cs typeface="맑은 고딕"/>
        <a:font script="Jpan" typeface="Malgun Gothic"/>
        <a:font script="Hang" typeface="Malgun Gothic"/>
        <a:font script="Hans" typeface="Malgun Gothic"/>
        <a:font script="Hant" typeface="Malgun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2026-09-29T14:41:04Z</dcterms:created>
  <dcterms:modified xsi:type="dcterms:W3CDTF">2026-09-29T14:41:04Z</dcterms:modified>
  <cp:category/>
  <cp:contentStatus/>
</cp:coreProperties>
</file>