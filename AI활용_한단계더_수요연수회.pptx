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4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7"/>
    <p:sldId id="263" r:id="rId6"/>
    <p:sldId id="264" r:id="rId5"/>
    <p:sldId id="265" r:id="rId4"/>
    <p:sldId id="266" r:id="rId3"/>
  </p:sldIdLst>
  <p:sldSz cx="9144000" cy="6858000" type="screen4x3"/>
  <p:notesSz cx="6858000" cy="9144000"/>
  <p:defaultTextStyle>
    <a:defPPr>
      <a:defRPr lang="ko-KR"/>
    </a:defPPr>
    <a:lvl1pPr marL="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4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5D362-31FD-4B4F-AE3B-5AC335FFCFEF}" type="datetimeFigureOut">
              <a:rPr lang="ko-KR" altLang="en-US" smtClean="0"/>
              <a:t>2017-12-06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38C70-8C8B-458E-8C56-50224186DB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291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layout1_shape1"/>
          <p:cNvCxnSpPr/>
          <p:nvPr/>
        </p:nvCxnSpPr>
        <p:spPr>
          <a:xfrm>
            <a:off x="364803" y="2996952"/>
            <a:ext cx="8406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layout1_shape2"/>
          <p:cNvCxnSpPr/>
          <p:nvPr/>
        </p:nvCxnSpPr>
        <p:spPr>
          <a:xfrm>
            <a:off x="372890" y="4437112"/>
            <a:ext cx="1592585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layout1_shape3"/>
          <p:cNvCxnSpPr/>
          <p:nvPr/>
        </p:nvCxnSpPr>
        <p:spPr>
          <a:xfrm>
            <a:off x="372890" y="4747108"/>
            <a:ext cx="1592585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ayout1_shape4"/>
          <p:cNvCxnSpPr/>
          <p:nvPr/>
        </p:nvCxnSpPr>
        <p:spPr>
          <a:xfrm>
            <a:off x="372890" y="5059723"/>
            <a:ext cx="1592585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layout1_shape5"/>
          <p:cNvCxnSpPr/>
          <p:nvPr/>
        </p:nvCxnSpPr>
        <p:spPr>
          <a:xfrm>
            <a:off x="372890" y="5371510"/>
            <a:ext cx="1592585" cy="0"/>
          </a:xfrm>
          <a:prstGeom prst="line">
            <a:avLst/>
          </a:prstGeom>
          <a:ln w="31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132856"/>
            <a:ext cx="8357914" cy="792088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b="1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323528" y="4468039"/>
            <a:ext cx="1592263" cy="273050"/>
          </a:xfrm>
        </p:spPr>
        <p:txBody>
          <a:bodyPr/>
          <a:lstStyle>
            <a:lvl1pPr marL="0" indent="0">
              <a:buNone/>
              <a:defRPr sz="1400"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>
                <a:latin typeface="+mn-ea"/>
                <a:ea typeface="+mn-ea"/>
              </a:rPr>
              <a:t>****</a:t>
            </a:r>
            <a:r>
              <a:rPr lang="ko-KR" altLang="en-US" dirty="0">
                <a:latin typeface="+mn-ea"/>
                <a:ea typeface="+mn-ea"/>
              </a:rPr>
              <a:t>년 </a:t>
            </a:r>
            <a:r>
              <a:rPr lang="en-US" altLang="ko-KR" dirty="0">
                <a:latin typeface="+mn-ea"/>
                <a:ea typeface="+mn-ea"/>
              </a:rPr>
              <a:t>**</a:t>
            </a:r>
            <a:r>
              <a:rPr lang="ko-KR" altLang="en-US" dirty="0">
                <a:latin typeface="+mn-ea"/>
                <a:ea typeface="+mn-ea"/>
              </a:rPr>
              <a:t>월 </a:t>
            </a:r>
            <a:r>
              <a:rPr lang="en-US" altLang="ko-KR" dirty="0">
                <a:latin typeface="+mn-ea"/>
                <a:ea typeface="+mn-ea"/>
              </a:rPr>
              <a:t>**</a:t>
            </a:r>
            <a:r>
              <a:rPr lang="ko-KR" altLang="en-US" dirty="0">
                <a:latin typeface="+mn-ea"/>
                <a:ea typeface="+mn-ea"/>
              </a:rPr>
              <a:t>일</a:t>
            </a:r>
            <a:r>
              <a:rPr lang="en-US" altLang="ko-KR" dirty="0">
                <a:latin typeface="+mn-ea"/>
                <a:ea typeface="+mn-ea"/>
              </a:rPr>
              <a:t> </a:t>
            </a:r>
            <a:endParaRPr lang="ko-KR" altLang="en-US" dirty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2" hasCustomPrompt="1"/>
          </p:nvPr>
        </p:nvSpPr>
        <p:spPr>
          <a:xfrm>
            <a:off x="323528" y="4781430"/>
            <a:ext cx="1592263" cy="273050"/>
          </a:xfrm>
        </p:spPr>
        <p:txBody>
          <a:bodyPr/>
          <a:lstStyle>
            <a:lvl1pPr marL="0" indent="0">
              <a:buNone/>
              <a:defRPr sz="140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>
                <a:latin typeface="+mn-ea"/>
                <a:ea typeface="+mn-ea"/>
              </a:rPr>
              <a:t>소속팀</a:t>
            </a:r>
            <a:endParaRPr lang="ko-KR" altLang="en-US" dirty="0"/>
          </a:p>
        </p:txBody>
      </p:sp>
      <p:sp>
        <p:nvSpPr>
          <p:cNvPr id="14" name="텍스트 개체 틀 11"/>
          <p:cNvSpPr>
            <a:spLocks noGrp="1"/>
          </p:cNvSpPr>
          <p:nvPr>
            <p:ph type="body" sz="quarter" idx="13" hasCustomPrompt="1"/>
          </p:nvPr>
        </p:nvSpPr>
        <p:spPr>
          <a:xfrm>
            <a:off x="336975" y="5097891"/>
            <a:ext cx="1592263" cy="273050"/>
          </a:xfrm>
        </p:spPr>
        <p:txBody>
          <a:bodyPr/>
          <a:lstStyle>
            <a:lvl1pPr marL="0" indent="0">
              <a:buNone/>
              <a:defRPr sz="140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>
                <a:latin typeface="+mn-ea"/>
                <a:ea typeface="+mn-ea"/>
              </a:rPr>
              <a:t>이름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1B5AC03-1D47-40A3-9F91-A757066EA2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04" y="6381328"/>
            <a:ext cx="2813160" cy="2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476672"/>
            <a:ext cx="8357914" cy="792088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b="1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1" hasCustomPrompt="1"/>
          </p:nvPr>
        </p:nvSpPr>
        <p:spPr>
          <a:xfrm>
            <a:off x="755576" y="1844675"/>
            <a:ext cx="7776864" cy="4032250"/>
          </a:xfrm>
        </p:spPr>
        <p:txBody>
          <a:bodyPr/>
          <a:lstStyle>
            <a:lvl1pPr marL="363538" indent="-363538">
              <a:lnSpc>
                <a:spcPct val="150000"/>
              </a:lnSpc>
              <a:buFont typeface="+mj-lt"/>
              <a:buAutoNum type="arabicPeriod"/>
              <a:defRPr sz="2000" b="1" baseline="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1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2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3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4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5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……………………………………………………………………….. 6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……………………………………………………………………… 10</a:t>
            </a:r>
          </a:p>
          <a:p>
            <a:pPr lvl="0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CE8E10-DDE0-406F-BB68-F50BAB2A3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04" y="6381328"/>
            <a:ext cx="281316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56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상세페이지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ayout2_shape3"/>
          <p:cNvSpPr>
            <a:spLocks noGrp="1"/>
          </p:cNvSpPr>
          <p:nvPr>
            <p:ph type="sldNum" sz="quarter" idx="12"/>
          </p:nvPr>
        </p:nvSpPr>
        <p:spPr>
          <a:xfrm>
            <a:off x="3505200" y="6304235"/>
            <a:ext cx="21336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4BEDD84E-25D4-4983-8AA1-2863C96F08D9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6" name="layout2_shape4"/>
          <p:cNvCxnSpPr/>
          <p:nvPr/>
        </p:nvCxnSpPr>
        <p:spPr>
          <a:xfrm>
            <a:off x="364803" y="908720"/>
            <a:ext cx="8406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60648"/>
            <a:ext cx="8357914" cy="648072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 baseline="0"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Main</a:t>
            </a:r>
            <a:r>
              <a:rPr lang="ko-KR" altLang="en-US" dirty="0"/>
              <a:t> </a:t>
            </a:r>
            <a:r>
              <a:rPr lang="en-US" altLang="ko-KR" dirty="0"/>
              <a:t>– Sub Title (</a:t>
            </a:r>
            <a:r>
              <a:rPr lang="ko-KR" altLang="en-US" dirty="0"/>
              <a:t>글자크기 </a:t>
            </a:r>
            <a:r>
              <a:rPr lang="en-US" altLang="ko-KR" dirty="0"/>
              <a:t>Main:24 / Sub:20) </a:t>
            </a:r>
            <a:endParaRPr lang="ko-KR" altLang="en-US" dirty="0"/>
          </a:p>
        </p:txBody>
      </p:sp>
      <p:cxnSp>
        <p:nvCxnSpPr>
          <p:cNvPr id="10" name="layout2_shape4"/>
          <p:cNvCxnSpPr/>
          <p:nvPr userDrawn="1"/>
        </p:nvCxnSpPr>
        <p:spPr>
          <a:xfrm>
            <a:off x="364803" y="6237312"/>
            <a:ext cx="8406000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8" y="1124744"/>
            <a:ext cx="8357914" cy="504056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600" b="1" baseline="0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핵심 문장 </a:t>
            </a:r>
            <a:r>
              <a:rPr lang="en-US" altLang="ko-KR" dirty="0"/>
              <a:t>– </a:t>
            </a:r>
            <a:r>
              <a:rPr lang="ko-KR" altLang="en-US" dirty="0"/>
              <a:t>한 줄로 작성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548680" y="44624"/>
            <a:ext cx="576000" cy="5760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192</a:t>
            </a:r>
          </a:p>
          <a:p>
            <a:pPr algn="ctr"/>
            <a:r>
              <a:rPr lang="en-US" altLang="ko-KR" sz="1000" dirty="0"/>
              <a:t>0</a:t>
            </a:r>
          </a:p>
          <a:p>
            <a:pPr algn="ctr"/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-828536" y="44624"/>
            <a:ext cx="576000" cy="5760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43</a:t>
            </a:r>
          </a:p>
          <a:p>
            <a:pPr algn="ctr"/>
            <a:r>
              <a:rPr lang="en-US" altLang="ko-KR" sz="1000" dirty="0"/>
              <a:t>74</a:t>
            </a:r>
          </a:p>
          <a:p>
            <a:pPr algn="ctr"/>
            <a:r>
              <a:rPr lang="en-US" altLang="ko-KR" sz="1000" dirty="0"/>
              <a:t>118</a:t>
            </a:r>
            <a:endParaRPr lang="ko-KR" altLang="en-US" sz="1000" dirty="0"/>
          </a:p>
        </p:txBody>
      </p:sp>
      <p:sp>
        <p:nvSpPr>
          <p:cNvPr id="14" name="직사각형 13"/>
          <p:cNvSpPr/>
          <p:nvPr userDrawn="1"/>
        </p:nvSpPr>
        <p:spPr>
          <a:xfrm>
            <a:off x="-1548680" y="764704"/>
            <a:ext cx="576000" cy="5760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191</a:t>
            </a:r>
          </a:p>
          <a:p>
            <a:pPr algn="ctr"/>
            <a:r>
              <a:rPr lang="en-US" altLang="ko-KR" sz="1000" dirty="0"/>
              <a:t>191</a:t>
            </a:r>
          </a:p>
          <a:p>
            <a:pPr algn="ctr"/>
            <a:r>
              <a:rPr lang="en-US" altLang="ko-KR" sz="1000" dirty="0"/>
              <a:t>191</a:t>
            </a:r>
            <a:endParaRPr lang="ko-KR" altLang="en-US" sz="1000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-836801" y="764704"/>
            <a:ext cx="576000" cy="5760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127</a:t>
            </a:r>
          </a:p>
          <a:p>
            <a:pPr algn="ctr"/>
            <a:r>
              <a:rPr lang="en-US" altLang="ko-KR" sz="1000" dirty="0"/>
              <a:t>127</a:t>
            </a:r>
          </a:p>
          <a:p>
            <a:pPr algn="ctr"/>
            <a:r>
              <a:rPr lang="en-US" altLang="ko-KR" sz="1000" dirty="0"/>
              <a:t>127</a:t>
            </a:r>
            <a:endParaRPr lang="ko-KR" altLang="en-US" sz="1000" dirty="0"/>
          </a:p>
        </p:txBody>
      </p:sp>
      <p:sp>
        <p:nvSpPr>
          <p:cNvPr id="16" name="직사각형 15"/>
          <p:cNvSpPr/>
          <p:nvPr userDrawn="1"/>
        </p:nvSpPr>
        <p:spPr>
          <a:xfrm>
            <a:off x="-1548680" y="1484784"/>
            <a:ext cx="576000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64</a:t>
            </a:r>
          </a:p>
          <a:p>
            <a:pPr algn="ctr"/>
            <a:r>
              <a:rPr lang="en-US" altLang="ko-KR" sz="1000" dirty="0"/>
              <a:t>64</a:t>
            </a:r>
          </a:p>
          <a:p>
            <a:pPr algn="ctr"/>
            <a:r>
              <a:rPr lang="en-US" altLang="ko-KR" sz="1000" dirty="0"/>
              <a:t>64</a:t>
            </a:r>
            <a:endParaRPr lang="ko-KR" altLang="en-US" sz="1000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-1548680" y="2132856"/>
            <a:ext cx="1287879" cy="37170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차트 그리는 법</a:t>
            </a:r>
            <a:r>
              <a:rPr lang="en-US" altLang="ko-KR" sz="1000" dirty="0">
                <a:solidFill>
                  <a:schemeClr val="tx1"/>
                </a:solidFill>
              </a:rPr>
              <a:t>]</a:t>
            </a: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차트 작성시 기본적으로 회색 계열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강조하는 부분은 붉은색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화살표는 파란색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차트 내의 글자크기는 </a:t>
            </a:r>
            <a:r>
              <a:rPr lang="en-US" altLang="ko-KR" sz="1000" dirty="0">
                <a:solidFill>
                  <a:schemeClr val="tx1"/>
                </a:solidFill>
              </a:rPr>
              <a:t>12</a:t>
            </a:r>
            <a:r>
              <a:rPr lang="ko-KR" altLang="en-US" sz="1000" dirty="0">
                <a:solidFill>
                  <a:schemeClr val="tx1"/>
                </a:solidFill>
              </a:rPr>
              <a:t>를 기본으로 하고</a:t>
            </a:r>
            <a:r>
              <a:rPr lang="ko-KR" altLang="en-US" sz="1000" baseline="0" dirty="0">
                <a:solidFill>
                  <a:schemeClr val="tx1"/>
                </a:solidFill>
              </a:rPr>
              <a:t> 조정가능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표</a:t>
            </a:r>
            <a:r>
              <a:rPr lang="en-US" altLang="ko-KR" sz="1000" baseline="0" dirty="0">
                <a:solidFill>
                  <a:schemeClr val="tx1"/>
                </a:solidFill>
              </a:rPr>
              <a:t> </a:t>
            </a:r>
            <a:r>
              <a:rPr lang="ko-KR" altLang="en-US" sz="1000" baseline="0" dirty="0">
                <a:solidFill>
                  <a:schemeClr val="tx1"/>
                </a:solidFill>
              </a:rPr>
              <a:t>그리는 법</a:t>
            </a:r>
            <a:r>
              <a:rPr lang="en-US" altLang="ko-KR" sz="1000" baseline="0" dirty="0">
                <a:solidFill>
                  <a:schemeClr val="tx1"/>
                </a:solidFill>
              </a:rPr>
              <a:t>]</a:t>
            </a: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표 안의 글자크기는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14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이내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양식으로 표기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자리수마다 쉼표 표시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숫자는 우측정렬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텍스트 중간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상하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맞춤 </a:t>
            </a:r>
            <a:endParaRPr lang="en-US" altLang="ko-KR" sz="1000" baseline="0" dirty="0">
              <a:solidFill>
                <a:schemeClr val="tx1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ko-KR" altLang="en-US" sz="1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9E3647C-67C3-43A1-A5C9-158B937B6A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04" y="6381328"/>
            <a:ext cx="281316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4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상세페이지_글상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ayout2_shape3"/>
          <p:cNvSpPr>
            <a:spLocks noGrp="1"/>
          </p:cNvSpPr>
          <p:nvPr>
            <p:ph type="sldNum" sz="quarter" idx="12"/>
          </p:nvPr>
        </p:nvSpPr>
        <p:spPr>
          <a:xfrm>
            <a:off x="3505200" y="6304235"/>
            <a:ext cx="21336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4BEDD84E-25D4-4983-8AA1-2863C96F08D9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6" name="layout2_shape4"/>
          <p:cNvCxnSpPr/>
          <p:nvPr/>
        </p:nvCxnSpPr>
        <p:spPr>
          <a:xfrm>
            <a:off x="364803" y="908720"/>
            <a:ext cx="8406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60648"/>
            <a:ext cx="8357914" cy="648072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 baseline="0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텍스트 상자</a:t>
            </a: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844824"/>
            <a:ext cx="7632700" cy="3816201"/>
          </a:xfrm>
        </p:spPr>
        <p:txBody>
          <a:bodyPr/>
          <a:lstStyle>
            <a:lvl1pPr marL="363538" indent="-363538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ct val="80000"/>
              <a:buFont typeface="맑은 고딕" panose="020B0503020000020004" pitchFamily="50" charset="-127"/>
              <a:buChar char="□"/>
              <a:defRPr sz="1400" b="0">
                <a:latin typeface="+mn-ea"/>
                <a:ea typeface="+mn-ea"/>
              </a:defRPr>
            </a:lvl1pPr>
            <a:lvl2pPr marL="631825" indent="-268288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SzPct val="100000"/>
              <a:buFont typeface="맑은 고딕" panose="020B0503020000020004" pitchFamily="50" charset="-127"/>
              <a:buChar char="ο"/>
              <a:defRPr sz="1400" b="0">
                <a:latin typeface="+mn-ea"/>
                <a:ea typeface="+mn-ea"/>
              </a:defRPr>
            </a:lvl2pPr>
            <a:lvl3pPr marL="901700" indent="-269875"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맑은 고딕" panose="020B0503020000020004" pitchFamily="50" charset="-127"/>
              <a:buChar char="–"/>
              <a:defRPr sz="1400" b="0">
                <a:latin typeface="+mn-ea"/>
                <a:ea typeface="+mn-ea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2000" b="0">
                <a:latin typeface="+mn-ea"/>
                <a:ea typeface="+mn-ea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2000" b="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첫째 수준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cxnSp>
        <p:nvCxnSpPr>
          <p:cNvPr id="10" name="layout2_shape4"/>
          <p:cNvCxnSpPr/>
          <p:nvPr userDrawn="1"/>
        </p:nvCxnSpPr>
        <p:spPr>
          <a:xfrm>
            <a:off x="364803" y="6237312"/>
            <a:ext cx="8406000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9"/>
          <p:cNvSpPr>
            <a:spLocks noGrp="1"/>
          </p:cNvSpPr>
          <p:nvPr>
            <p:ph type="body" sz="quarter" idx="14" hasCustomPrompt="1"/>
          </p:nvPr>
        </p:nvSpPr>
        <p:spPr>
          <a:xfrm>
            <a:off x="323528" y="1124744"/>
            <a:ext cx="8357914" cy="504056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600" b="1" baseline="0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핵심 문장 </a:t>
            </a:r>
            <a:r>
              <a:rPr lang="en-US" altLang="ko-KR" dirty="0"/>
              <a:t>– </a:t>
            </a:r>
            <a:r>
              <a:rPr lang="ko-KR" altLang="en-US" dirty="0"/>
              <a:t>한 줄로 작성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548680" y="0"/>
            <a:ext cx="576000" cy="5760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192</a:t>
            </a:r>
          </a:p>
          <a:p>
            <a:pPr algn="ctr"/>
            <a:r>
              <a:rPr lang="en-US" altLang="ko-KR" sz="1000" dirty="0"/>
              <a:t>0</a:t>
            </a:r>
          </a:p>
          <a:p>
            <a:pPr algn="ctr"/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-828536" y="0"/>
            <a:ext cx="576000" cy="5760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43</a:t>
            </a:r>
          </a:p>
          <a:p>
            <a:pPr algn="ctr"/>
            <a:r>
              <a:rPr lang="en-US" altLang="ko-KR" sz="1000" dirty="0"/>
              <a:t>74</a:t>
            </a:r>
          </a:p>
          <a:p>
            <a:pPr algn="ctr"/>
            <a:r>
              <a:rPr lang="en-US" altLang="ko-KR" sz="1000" dirty="0"/>
              <a:t>118</a:t>
            </a:r>
            <a:endParaRPr lang="ko-KR" altLang="en-US" sz="1000" dirty="0"/>
          </a:p>
        </p:txBody>
      </p:sp>
      <p:sp>
        <p:nvSpPr>
          <p:cNvPr id="14" name="직사각형 13"/>
          <p:cNvSpPr/>
          <p:nvPr userDrawn="1"/>
        </p:nvSpPr>
        <p:spPr>
          <a:xfrm>
            <a:off x="-1548680" y="720080"/>
            <a:ext cx="576000" cy="57606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191</a:t>
            </a:r>
          </a:p>
          <a:p>
            <a:pPr algn="ctr"/>
            <a:r>
              <a:rPr lang="en-US" altLang="ko-KR" sz="1000" dirty="0"/>
              <a:t>191</a:t>
            </a:r>
          </a:p>
          <a:p>
            <a:pPr algn="ctr"/>
            <a:r>
              <a:rPr lang="en-US" altLang="ko-KR" sz="1000" dirty="0"/>
              <a:t>191</a:t>
            </a:r>
            <a:endParaRPr lang="ko-KR" altLang="en-US" sz="1000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-836801" y="720080"/>
            <a:ext cx="576000" cy="57606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127</a:t>
            </a:r>
          </a:p>
          <a:p>
            <a:pPr algn="ctr"/>
            <a:r>
              <a:rPr lang="en-US" altLang="ko-KR" sz="1000" dirty="0"/>
              <a:t>127</a:t>
            </a:r>
          </a:p>
          <a:p>
            <a:pPr algn="ctr"/>
            <a:r>
              <a:rPr lang="en-US" altLang="ko-KR" sz="1000" dirty="0"/>
              <a:t>127</a:t>
            </a:r>
            <a:endParaRPr lang="ko-KR" altLang="en-US" sz="1000" dirty="0"/>
          </a:p>
        </p:txBody>
      </p:sp>
      <p:sp>
        <p:nvSpPr>
          <p:cNvPr id="16" name="직사각형 15"/>
          <p:cNvSpPr/>
          <p:nvPr userDrawn="1"/>
        </p:nvSpPr>
        <p:spPr>
          <a:xfrm>
            <a:off x="-1548680" y="1440160"/>
            <a:ext cx="576000" cy="5760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64</a:t>
            </a:r>
          </a:p>
          <a:p>
            <a:pPr algn="ctr"/>
            <a:r>
              <a:rPr lang="en-US" altLang="ko-KR" sz="1000" dirty="0"/>
              <a:t>64</a:t>
            </a:r>
          </a:p>
          <a:p>
            <a:pPr algn="ctr"/>
            <a:r>
              <a:rPr lang="en-US" altLang="ko-KR" sz="1000" dirty="0"/>
              <a:t>64</a:t>
            </a:r>
            <a:endParaRPr lang="ko-KR" altLang="en-US" sz="1000" dirty="0"/>
          </a:p>
        </p:txBody>
      </p:sp>
      <p:sp>
        <p:nvSpPr>
          <p:cNvPr id="20" name="직사각형 19"/>
          <p:cNvSpPr/>
          <p:nvPr userDrawn="1"/>
        </p:nvSpPr>
        <p:spPr>
          <a:xfrm>
            <a:off x="-1548680" y="2088232"/>
            <a:ext cx="1287879" cy="37170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차트 그리는 법</a:t>
            </a:r>
            <a:r>
              <a:rPr lang="en-US" altLang="ko-KR" sz="1000" dirty="0">
                <a:solidFill>
                  <a:schemeClr val="tx1"/>
                </a:solidFill>
              </a:rPr>
              <a:t>]</a:t>
            </a: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차트 작성시 기본적으로 회색 계열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강조하는 부분은 붉은색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화살표는 파란색 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schemeClr val="tx1"/>
                </a:solidFill>
              </a:rPr>
              <a:t>차트 내의 글자크기는 </a:t>
            </a:r>
            <a:r>
              <a:rPr lang="en-US" altLang="ko-KR" sz="1000" dirty="0">
                <a:solidFill>
                  <a:schemeClr val="tx1"/>
                </a:solidFill>
              </a:rPr>
              <a:t>12</a:t>
            </a:r>
            <a:r>
              <a:rPr lang="ko-KR" altLang="en-US" sz="1000" dirty="0">
                <a:solidFill>
                  <a:schemeClr val="tx1"/>
                </a:solidFill>
              </a:rPr>
              <a:t>를 기본으로 하고</a:t>
            </a:r>
            <a:r>
              <a:rPr lang="ko-KR" altLang="en-US" sz="1000" baseline="0" dirty="0">
                <a:solidFill>
                  <a:schemeClr val="tx1"/>
                </a:solidFill>
              </a:rPr>
              <a:t> 조정가능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93663" indent="-93663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ko-KR" sz="1000" dirty="0">
                <a:solidFill>
                  <a:schemeClr val="tx1"/>
                </a:solidFill>
              </a:rPr>
              <a:t>[</a:t>
            </a:r>
            <a:r>
              <a:rPr lang="ko-KR" altLang="en-US" sz="1000" dirty="0">
                <a:solidFill>
                  <a:schemeClr val="tx1"/>
                </a:solidFill>
              </a:rPr>
              <a:t>표</a:t>
            </a:r>
            <a:r>
              <a:rPr lang="en-US" altLang="ko-KR" sz="1000" baseline="0" dirty="0">
                <a:solidFill>
                  <a:schemeClr val="tx1"/>
                </a:solidFill>
              </a:rPr>
              <a:t> </a:t>
            </a:r>
            <a:r>
              <a:rPr lang="ko-KR" altLang="en-US" sz="1000" baseline="0" dirty="0">
                <a:solidFill>
                  <a:schemeClr val="tx1"/>
                </a:solidFill>
              </a:rPr>
              <a:t>그리는 법</a:t>
            </a:r>
            <a:r>
              <a:rPr lang="en-US" altLang="ko-KR" sz="1000" baseline="0" dirty="0">
                <a:solidFill>
                  <a:schemeClr val="tx1"/>
                </a:solidFill>
              </a:rPr>
              <a:t>]</a:t>
            </a: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표 안의 글자크기는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14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이내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양식으로 표기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자리수마다 쉼표 표시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숫자는 우측정렬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3663" marR="0" lvl="0" indent="-93663" algn="l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텍스트 중간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상하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맞춤 </a:t>
            </a:r>
            <a:endParaRPr lang="en-US" altLang="ko-KR" sz="1000" baseline="0" dirty="0">
              <a:solidFill>
                <a:schemeClr val="tx1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ko-KR" altLang="en-US" sz="1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FB39EDE-E716-4D60-B3CD-FA21CA7C5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04" y="6381328"/>
            <a:ext cx="2813160" cy="2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맺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layout1_shape1"/>
          <p:cNvCxnSpPr/>
          <p:nvPr/>
        </p:nvCxnSpPr>
        <p:spPr>
          <a:xfrm>
            <a:off x="364803" y="2996952"/>
            <a:ext cx="8406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132856"/>
            <a:ext cx="8357914" cy="792088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b="1"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끝맺음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105A0B-01E1-4B26-9564-E95A2DA89F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04" y="6381328"/>
            <a:ext cx="281316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900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1_shape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  <a:endParaRPr/>
          </a:p>
        </p:txBody>
      </p:sp>
      <p:sp>
        <p:nvSpPr>
          <p:cNvPr id="4" name="master1_shape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스타일을</a:t>
            </a:r>
            <a:r>
              <a:rPr lang="en-US" altLang="en-US"/>
              <a:t> </a:t>
            </a:r>
            <a:r>
              <a:rPr lang="ko-KR" altLang="en-US"/>
              <a:t>편집합니다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  <a:endParaRPr/>
          </a:p>
        </p:txBody>
      </p:sp>
      <p:sp>
        <p:nvSpPr>
          <p:cNvPr id="5" name="master1_shape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고딕"/>
                <a:ea typeface="나눔고딕"/>
              </a:defRPr>
            </a:lvl1pPr>
          </a:lstStyle>
          <a:p>
            <a:pPr algn="l"/>
            <a:endParaRPr sz="1200">
              <a:solidFill>
                <a:schemeClr val="tx1">
                  <a:tint val="75000"/>
                </a:schemeClr>
              </a:solidFill>
              <a:latin typeface="나눔고딕"/>
              <a:ea typeface="나눔고딕"/>
            </a:endParaRPr>
          </a:p>
        </p:txBody>
      </p:sp>
      <p:sp>
        <p:nvSpPr>
          <p:cNvPr id="6" name="master1_shape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고딕"/>
                <a:ea typeface="나눔고딕"/>
              </a:defRPr>
            </a:lvl1pPr>
          </a:lstStyle>
          <a:p>
            <a:pPr algn="ctr"/>
            <a:endParaRPr sz="1200">
              <a:solidFill>
                <a:schemeClr val="tx1">
                  <a:tint val="75000"/>
                </a:schemeClr>
              </a:solidFill>
              <a:latin typeface="나눔고딕"/>
              <a:ea typeface="나눔고딕"/>
            </a:endParaRPr>
          </a:p>
        </p:txBody>
      </p:sp>
      <p:sp>
        <p:nvSpPr>
          <p:cNvPr id="7" name="master1_shape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고딕"/>
                <a:ea typeface="나눔고딕"/>
              </a:defRPr>
            </a:lvl1pPr>
          </a:lstStyle>
          <a:p>
            <a:pPr algn="r"/>
            <a:fld id="{4BEDD84E-25D4-4983-8AA1-2863C96F08D9}" type="slidenum">
              <a:rPr lang="ko-KR" sz="1200">
                <a:solidFill>
                  <a:schemeClr val="tx1">
                    <a:tint val="75000"/>
                  </a:schemeClr>
                </a:solidFill>
                <a:latin typeface="나눔고딕"/>
                <a:ea typeface="나눔고딕"/>
              </a:rPr>
              <a:t>‹#›</a:t>
            </a:fld>
            <a:endParaRPr sz="1200">
              <a:solidFill>
                <a:schemeClr val="tx1">
                  <a:tint val="75000"/>
                </a:schemeClr>
              </a:solidFill>
              <a:latin typeface="나눔고딕"/>
              <a:ea typeface="나눔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7" r:id="rId2"/>
    <p:sldLayoutId id="2147483658" r:id="rId3"/>
    <p:sldLayoutId id="2147483651" r:id="rId4"/>
    <p:sldLayoutId id="2147483660" r:id="rId5"/>
  </p:sldLayoutIdLst>
  <p:hf hdr="0" ftr="0" dt="0"/>
  <p:txStyles>
    <p:titleStyle>
      <a:lvl1pPr algn="ctr" defTabSz="914400" latinLnBrk="1">
        <a:spcBef>
          <a:spcPct val="0"/>
        </a:spcBef>
        <a:buNone/>
        <a:defRPr sz="4400" kern="1200">
          <a:solidFill>
            <a:schemeClr val="tx1"/>
          </a:solidFill>
          <a:latin typeface="나눔고딕"/>
          <a:ea typeface="나눔고딕"/>
          <a:cs typeface="+mj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 pitchFamily="2" charset="2"/>
        <a:buChar char="•"/>
        <a:defRPr sz="3200" kern="1200">
          <a:solidFill>
            <a:schemeClr val="tx1"/>
          </a:solidFill>
          <a:latin typeface="나눔고딕"/>
          <a:ea typeface="나눔고딕"/>
          <a:cs typeface="+mn-cs"/>
        </a:defRPr>
      </a:lvl1pPr>
      <a:lvl2pPr marL="742950" indent="-285750" algn="l" defTabSz="914400" latinLnBrk="1">
        <a:spcBef>
          <a:spcPct val="20000"/>
        </a:spcBef>
        <a:buFont typeface="Arial" pitchFamily="2" charset="2"/>
        <a:buChar char="–"/>
        <a:defRPr sz="2800" kern="1200">
          <a:solidFill>
            <a:schemeClr val="tx1"/>
          </a:solidFill>
          <a:latin typeface="나눔고딕"/>
          <a:ea typeface="나눔고딕"/>
          <a:cs typeface="+mn-cs"/>
        </a:defRPr>
      </a:lvl2pPr>
      <a:lvl3pPr marL="1143000" indent="-228600" algn="l" defTabSz="914400" latinLnBrk="1">
        <a:spcBef>
          <a:spcPct val="20000"/>
        </a:spcBef>
        <a:buFont typeface="Arial" pitchFamily="2" charset="2"/>
        <a:buChar char="•"/>
        <a:defRPr sz="2400" kern="1200">
          <a:solidFill>
            <a:schemeClr val="tx1"/>
          </a:solidFill>
          <a:latin typeface="나눔고딕"/>
          <a:ea typeface="나눔고딕"/>
          <a:cs typeface="+mn-cs"/>
        </a:defRPr>
      </a:lvl3pPr>
      <a:lvl4pPr marL="1600200" indent="-228600" algn="l" defTabSz="914400" latinLnBrk="1">
        <a:spcBef>
          <a:spcPct val="20000"/>
        </a:spcBef>
        <a:buFont typeface="Arial" pitchFamily="2" charset="2"/>
        <a:buChar char="–"/>
        <a:defRPr sz="2000" kern="1200">
          <a:solidFill>
            <a:schemeClr val="tx1"/>
          </a:solidFill>
          <a:latin typeface="나눔고딕"/>
          <a:ea typeface="나눔고딕"/>
          <a:cs typeface="+mn-cs"/>
        </a:defRPr>
      </a:lvl4pPr>
      <a:lvl5pPr marL="2057400" indent="-228600" algn="l" defTabSz="914400" latinLnBrk="1">
        <a:spcBef>
          <a:spcPct val="20000"/>
        </a:spcBef>
        <a:buFont typeface="Arial" pitchFamily="2" charset="2"/>
        <a:buChar char="»"/>
        <a:defRPr sz="2000" kern="1200">
          <a:solidFill>
            <a:schemeClr val="tx1"/>
          </a:solidFill>
          <a:latin typeface="나눔고딕"/>
          <a:ea typeface="나눔고딕"/>
          <a:cs typeface="+mn-cs"/>
        </a:defRPr>
      </a:lvl5pPr>
      <a:lvl6pPr marL="25146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latinLnBrk="1">
        <a:spcBef>
          <a:spcPct val="20000"/>
        </a:spcBef>
        <a:buFont typeface="Arial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latinLnBrk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2800" b="1">
                <a:solidFill>
                  <a:srgbClr val="464646"/>
                </a:solidFill>
                <a:latin typeface="맑은 고딕"/>
              </a:defRPr>
            </a:pPr>
            <a:r>
              <a:t>AI 활용, 한 단계 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>
                <a:solidFill>
                  <a:srgbClr val="464646"/>
                </a:solidFill>
                <a:latin typeface="맑은 고딕"/>
              </a:defRPr>
            </a:pPr>
            <a:r>
              <a:t>2026년 9월 30일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400">
                <a:solidFill>
                  <a:srgbClr val="464646"/>
                </a:solidFill>
                <a:latin typeface="맑은 고딕"/>
              </a:defRPr>
            </a:pPr>
            <a:r>
              <a:t>기술연구소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defRPr sz="1400">
                <a:solidFill>
                  <a:srgbClr val="464646"/>
                </a:solidFill>
                <a:latin typeface="맑은 고딕"/>
              </a:defRPr>
            </a:pPr>
            <a:r>
              <a:t>성진영 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6634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A2BF"/>
                </a:solidFill>
                <a:latin typeface="맑은 고딕"/>
              </a:defRPr>
            </a:pPr>
            <a:r>
              <a:t>제OOO회 수요연수회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2800" b="1">
                <a:solidFill>
                  <a:srgbClr val="464646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>
              <a:spcAft>
                <a:spcPts val="2200"/>
              </a:spcAft>
              <a:defRPr sz="1800" b="1">
                <a:solidFill>
                  <a:srgbClr val="464646"/>
                </a:solidFill>
                <a:latin typeface="맑은 고딕"/>
              </a:defRPr>
            </a:pPr>
            <a:r>
              <a:t>AI 활용, 어디까지 왔을까?</a:t>
            </a:r>
          </a:p>
          <a:p>
            <a:pPr>
              <a:spcAft>
                <a:spcPts val="2200"/>
              </a:spcAft>
              <a:defRPr sz="1800" b="1">
                <a:solidFill>
                  <a:srgbClr val="464646"/>
                </a:solidFill>
                <a:latin typeface="맑은 고딕"/>
              </a:defRPr>
            </a:pPr>
            <a:r>
              <a:t>어떻게 하면 AI를 진짜 잘 쓸 수 있을까?</a:t>
            </a:r>
          </a:p>
          <a:p>
            <a:pPr>
              <a:spcAft>
                <a:spcPts val="2200"/>
              </a:spcAft>
              <a:defRPr sz="1800" b="1">
                <a:solidFill>
                  <a:srgbClr val="464646"/>
                </a:solidFill>
                <a:latin typeface="맑은 고딕"/>
              </a:defRPr>
            </a:pPr>
            <a:r>
              <a:t>라이브 시연: 회의 메모의 기적</a:t>
            </a:r>
          </a:p>
          <a:p>
            <a:pPr>
              <a:spcAft>
                <a:spcPts val="2200"/>
              </a:spcAft>
              <a:defRPr sz="1800" b="1">
                <a:solidFill>
                  <a:srgbClr val="464646"/>
                </a:solidFill>
                <a:latin typeface="맑은 고딕"/>
              </a:defRPr>
            </a:pPr>
            <a:r>
              <a:t>내일부터 당장 써먹는 1가지 작은 실천</a:t>
            </a:r>
          </a:p>
          <a:p>
            <a:pPr>
              <a:spcAft>
                <a:spcPts val="2200"/>
              </a:spcAft>
              <a:defRPr sz="1800" b="1">
                <a:solidFill>
                  <a:srgbClr val="464646"/>
                </a:solidFill>
                <a:latin typeface="맑은 고딕"/>
              </a:defRPr>
            </a:pPr>
            <a:r>
              <a:t>지속 가능한 AI 협업 워크플로우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AI 활용, 어디까지 왔을까?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텍스트 한 줄로 시공간을 넘나드는 고품질 영상을 구현하는 시대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99359" cy="685800"/>
          </a:xfrm>
          <a:prstGeom prst="roundRect">
            <a:avLst/>
          </a:prstGeom>
          <a:solidFill>
            <a:srgbClr val="396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영상 사례 1: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타임머신 여행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137160" rIns="137160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텍스트 프롬프트 기반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역사적 시공간 초고속 복원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사실적 영상 자동 생성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(유튜브 쇼츠 실습 영상)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2319" y="1691640"/>
            <a:ext cx="2499359" cy="685800"/>
          </a:xfrm>
          <a:prstGeom prst="roundRect">
            <a:avLst/>
          </a:prstGeom>
          <a:solidFill>
            <a:srgbClr val="2DA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영상 사례 2: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산업 현장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231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137160" rIns="137160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도면·사진 3D 변환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회의록 화자 분리 및 요약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단순 작업 즉각 자동화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(업무 생산성 혁신)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0279" y="1691640"/>
            <a:ext cx="2499359" cy="685800"/>
          </a:xfrm>
          <a:prstGeom prst="roundRect">
            <a:avLst/>
          </a:prstGeom>
          <a:solidFill>
            <a:srgbClr val="EB6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임직원을 위한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시사점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027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137160" rIns="137160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연구용 기술 탈피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실무에 즉시 투입 가능한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일상 업무 가속 도구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 lIns="182880" rIns="182880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핵심: AI는 상상을 시각화하고 단순 업무를 초고속화하는 실전 도구입니다.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우리가 AI를 쓰며 느끼는 흔한 좌절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기대와 다른 두루뭉술한 답변과 매번 반복되는 설명에 지치는 현실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14016" cy="3108960"/>
          </a:xfrm>
          <a:prstGeom prst="roundRect">
            <a:avLst/>
          </a:prstGeom>
          <a:solidFill>
            <a:srgbClr val="DEF5FA"/>
          </a:solidFill>
          <a:ln w="1905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bIns="182880" lIns="137160" rIns="137160"/>
          <a:lstStyle/>
          <a:p>
            <a:pPr algn="ctr">
              <a:spcAft>
                <a:spcPts val="1800"/>
              </a:spcAft>
              <a:defRPr sz="2200" b="1">
                <a:solidFill>
                  <a:srgbClr val="2DA2BF"/>
                </a:solidFill>
                <a:latin typeface="맑은 고딕"/>
              </a:defRPr>
            </a:pPr>
            <a:r>
              <a:t>두루뭉술한 답변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교과서적 일반론 나열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사내 맥락·규정 미반영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“알아서 써줘”의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2" y="1691640"/>
            <a:ext cx="2414016" cy="3108960"/>
          </a:xfrm>
          <a:prstGeom prst="roundRect">
            <a:avLst/>
          </a:prstGeom>
          <a:solidFill>
            <a:srgbClr val="EBF1F8"/>
          </a:solidFill>
          <a:ln w="1905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bIns="182880" lIns="137160" rIns="137160"/>
          <a:lstStyle/>
          <a:p>
            <a:pPr algn="ctr">
              <a:spcAft>
                <a:spcPts val="1800"/>
              </a:spcAft>
              <a:defRPr sz="2200" b="1">
                <a:solidFill>
                  <a:srgbClr val="39639D"/>
                </a:solidFill>
                <a:latin typeface="맑은 고딕"/>
              </a:defRPr>
            </a:pPr>
            <a:r>
              <a:t>반복 설명의 피로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새 대화창마다 복사·붙여넣기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서식·규칙 재설명 피로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세션 종료 시 기억 망각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5624" y="1691640"/>
            <a:ext cx="2414016" cy="3108960"/>
          </a:xfrm>
          <a:prstGeom prst="roundRect">
            <a:avLst/>
          </a:prstGeom>
          <a:solidFill>
            <a:srgbClr val="FDF0E8"/>
          </a:solidFill>
          <a:ln w="1905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bIns="182880" lIns="137160" rIns="137160"/>
          <a:lstStyle/>
          <a:p>
            <a:pPr algn="ctr">
              <a:spcAft>
                <a:spcPts val="1800"/>
              </a:spcAft>
              <a:defRPr sz="2200" b="1">
                <a:solidFill>
                  <a:srgbClr val="EB641B"/>
                </a:solidFill>
                <a:latin typeface="맑은 고딕"/>
              </a:defRPr>
            </a:pPr>
            <a:r>
              <a:t>실무 적용 포기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“그냥 내가 쓰고 말지”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결국 수작업으로 회귀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도구 활용의 단절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 lIns="182880" rIns="182880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원인은 AI의 한계가 아닌, '일 시키는 방식(디렉팅)'의 부재였습니다.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어떻게 하면 AI를 진짜 잘 쓸 수 있을까?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AI는 자판기가 아니라, 사내 맥락을 모르는 '유능한 신입 사원'입니다.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99359" cy="685800"/>
          </a:xfrm>
          <a:prstGeom prst="roundRect">
            <a:avLst/>
          </a:prstGeom>
          <a:solidFill>
            <a:srgbClr val="396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배경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(Context)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137160" rIns="137160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작성 목적 &amp; 보고 대상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사내 상황과 타깃을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명확히 사전 공유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2319" y="1691640"/>
            <a:ext cx="2499359" cy="685800"/>
          </a:xfrm>
          <a:prstGeom prst="roundRect">
            <a:avLst/>
          </a:prstGeom>
          <a:solidFill>
            <a:srgbClr val="2DA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제약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(Constraints)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231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137160" rIns="137160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필수 포함 &amp; 금지 기준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분량 제한·핵심 수치·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주의사항 사전 지정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0279" y="1691640"/>
            <a:ext cx="2499359" cy="685800"/>
          </a:xfrm>
          <a:prstGeom prst="roundRect">
            <a:avLst/>
          </a:prstGeom>
          <a:solidFill>
            <a:srgbClr val="EB6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완료 기준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(Format)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027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137160" rIns="137160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최종 출력 양식 규격화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3줄 요약·표 형식 지정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(AI 자체 검증 유도)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 lIns="182880" rIns="182880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핵심은 배경·제약·완료조건 3가지를 명확히 분리하여 지시하는 것입니다.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프롬프트 작성 전과 후 비교 예시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질문의 해상도를 높이면 AI의 답변 수준이 즉시 전문가 수준으로 변합니다.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3840480" cy="310896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DA1F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spcAft>
                <a:spcPts val="1600"/>
              </a:spcAft>
              <a:defRPr sz="1700" b="1">
                <a:solidFill>
                  <a:srgbClr val="DA1F28"/>
                </a:solidFill>
                <a:latin typeface="맑은 고딕"/>
              </a:defRPr>
            </a:pPr>
            <a:r>
              <a:t>❌ 기존 방식 (자판기형 단순 질문)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지시: "신제품 금고 홍보 문구 써줘"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문제: 타깃·채널·제약조건 부재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결과: 뻔한 교과서적 홍보글 출력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평가: 실무 활용 불가 (재작업 발생)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691640"/>
            <a:ext cx="3840480" cy="3108960"/>
          </a:xfrm>
          <a:prstGeom prst="roundRect">
            <a:avLst/>
          </a:prstGeom>
          <a:solidFill>
            <a:srgbClr val="DEF5FA"/>
          </a:solidFill>
          <a:ln w="1905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28600" rIns="228600"/>
          <a:lstStyle/>
          <a:p>
            <a:pPr algn="ctr">
              <a:spcAft>
                <a:spcPts val="1600"/>
              </a:spcAft>
              <a:defRPr sz="1700" b="1">
                <a:solidFill>
                  <a:srgbClr val="2DA2BF"/>
                </a:solidFill>
                <a:latin typeface="맑은 고딕"/>
              </a:defRPr>
            </a:pPr>
            <a:r>
              <a:t>⭕ 개선 방식 (신입 사원 디렉팅 - 3C 적용)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지시: "30대 1인가구 타깃 방화금고 카피 3개, 안도감 강조, 50자 표로"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특징: 타깃·채널·완료기준 명확히 제시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결과: 감성을 자극하는 실무용 카피 도출</a:t>
            </a:r>
          </a:p>
          <a:p>
            <a:pPr>
              <a:spcAft>
                <a:spcPts val="1000"/>
              </a:spcAft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• 평가: 즉시 결재 가능한 완성도 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 lIns="182880" rIns="182880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질문의 해상도를 높이면, AI는 뻔한 글 대신 실무 완성품을 만듭니다.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한 단계 더: 단발성 질문을 넘어 시스템으로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도구(Tool), 스킬(Skill), 에이전트(Agent)의 결합으로 완성하는 자동화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14016" cy="3108960"/>
          </a:xfrm>
          <a:prstGeom prst="roundRect">
            <a:avLst/>
          </a:prstGeom>
          <a:solidFill>
            <a:srgbClr val="DEF5FA"/>
          </a:solidFill>
          <a:ln w="1905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bIns="182880" lIns="137160" rIns="137160"/>
          <a:lstStyle/>
          <a:p>
            <a:pPr algn="ctr">
              <a:spcAft>
                <a:spcPts val="1800"/>
              </a:spcAft>
              <a:defRPr sz="2200" b="1">
                <a:solidFill>
                  <a:srgbClr val="2DA2BF"/>
                </a:solidFill>
                <a:latin typeface="맑은 고딕"/>
              </a:defRPr>
            </a:pPr>
            <a:r>
              <a:t>스킬 (Skill)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반복 업무 표준 매뉴얼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규칙 영구 기억 (SOP)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예: 디프로매트 보고서 양식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2" y="1691640"/>
            <a:ext cx="2414016" cy="3108960"/>
          </a:xfrm>
          <a:prstGeom prst="roundRect">
            <a:avLst/>
          </a:prstGeom>
          <a:solidFill>
            <a:srgbClr val="EBF1F8"/>
          </a:solidFill>
          <a:ln w="1905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bIns="182880" lIns="137160" rIns="137160"/>
          <a:lstStyle/>
          <a:p>
            <a:pPr algn="ctr">
              <a:spcAft>
                <a:spcPts val="1800"/>
              </a:spcAft>
              <a:defRPr sz="2200" b="1">
                <a:solidFill>
                  <a:srgbClr val="39639D"/>
                </a:solidFill>
                <a:latin typeface="맑은 고딕"/>
              </a:defRPr>
            </a:pPr>
            <a:r>
              <a:t>에이전트 (Agent)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목표를 완수하는 전담 비서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스스로 작업 수행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예: 회의록 요약, 품질 분석 담당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5624" y="1691640"/>
            <a:ext cx="2414016" cy="3108960"/>
          </a:xfrm>
          <a:prstGeom prst="roundRect">
            <a:avLst/>
          </a:prstGeom>
          <a:solidFill>
            <a:srgbClr val="FDF0E8"/>
          </a:solidFill>
          <a:ln w="1905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bIns="182880" lIns="137160" rIns="137160"/>
          <a:lstStyle/>
          <a:p>
            <a:pPr algn="ctr">
              <a:spcAft>
                <a:spcPts val="1800"/>
              </a:spcAft>
              <a:defRPr sz="2200" b="1">
                <a:solidFill>
                  <a:srgbClr val="EB641B"/>
                </a:solidFill>
                <a:latin typeface="맑은 고딕"/>
              </a:defRPr>
            </a:pPr>
            <a:r>
              <a:t>플러그인 (Plugin)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외부 도구·기능 연결 연장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AI의 실행 손발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예: 파일 읽기·쓰기, 검색 도구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 lIns="182880" rIns="182880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비유하면: 스킬은 업무 매뉴얼, 에이전트는 전담 비서, 플러그인은 손발 도구입니다.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라이브 시연: 회의 메모의 기적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부서 간 회의 메모를 투입하여 1분 만에 경영진 보고 양식으로 자동 구조화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99359" cy="685800"/>
          </a:xfrm>
          <a:prstGeom prst="roundRect">
            <a:avLst/>
          </a:prstGeom>
          <a:solidFill>
            <a:srgbClr val="3963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1단계: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날것의 메모 투입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137160" rIns="137160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두서없는 10줄 회의 메모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부서별 발언·일정 메모 입력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(현장 날것의 텍스트 원본)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2319" y="1691640"/>
            <a:ext cx="2499359" cy="685800"/>
          </a:xfrm>
          <a:prstGeom prst="roundRect">
            <a:avLst/>
          </a:prstGeom>
          <a:solidFill>
            <a:srgbClr val="2DA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2단계: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사내 표준 스킬 호출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231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137160" rIns="137160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디프로매트 표준 양식 적용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3줄 요약 + 쟁점 표 +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Action Item 자동 매핑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0279" y="1691640"/>
            <a:ext cx="2499359" cy="685800"/>
          </a:xfrm>
          <a:prstGeom prst="roundRect">
            <a:avLst/>
          </a:prstGeom>
          <a:solidFill>
            <a:srgbClr val="EB6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3단계:</a:t>
            </a:r>
          </a:p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1분 내 보고서 완성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0279" y="2286000"/>
            <a:ext cx="2499359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137160" rIns="137160"/>
          <a:lstStyle/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결재용 1페이지 보고서 출력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사람은 1분 팩트체크 후</a:t>
            </a:r>
          </a:p>
          <a:p>
            <a:pPr algn="ctr">
              <a:defRPr sz="1300" b="1">
                <a:solidFill>
                  <a:srgbClr val="464646"/>
                </a:solidFill>
                <a:latin typeface="맑은 고딕"/>
              </a:defRPr>
            </a:pPr>
            <a:r>
              <a:t>즉시 사내 결재 진행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 lIns="182880" rIns="182880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사람이 30분 걸리던 서식 정리를, AI가 단 40초 만에 완수합니다.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내일부터 당장 써먹는 1가지 작은 실천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질문 맨 끝에 '내가 원하는 완료 기준(채점표)' 딱 한 줄만 붙여보세요.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414016" cy="3108960"/>
          </a:xfrm>
          <a:prstGeom prst="roundRect">
            <a:avLst/>
          </a:prstGeom>
          <a:solidFill>
            <a:srgbClr val="DEF5FA"/>
          </a:solidFill>
          <a:ln w="1905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bIns="182880" lIns="137160" rIns="137160"/>
          <a:lstStyle/>
          <a:p>
            <a:pPr algn="ctr">
              <a:spcAft>
                <a:spcPts val="1800"/>
              </a:spcAft>
              <a:defRPr sz="2200" b="1">
                <a:solidFill>
                  <a:srgbClr val="2DA2BF"/>
                </a:solidFill>
                <a:latin typeface="맑은 고딕"/>
              </a:defRPr>
            </a:pPr>
            <a:r>
              <a:t>단 한 줄의 마법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“맨 위에 3줄 요약 넣고</a:t>
            </a:r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핵심은 표로 정리해줘”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원하는 완료 기준(채점표) 명시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2" y="1691640"/>
            <a:ext cx="2414016" cy="3108960"/>
          </a:xfrm>
          <a:prstGeom prst="roundRect">
            <a:avLst/>
          </a:prstGeom>
          <a:solidFill>
            <a:srgbClr val="EBF1F8"/>
          </a:solidFill>
          <a:ln w="1905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bIns="182880" lIns="137160" rIns="137160"/>
          <a:lstStyle/>
          <a:p>
            <a:pPr algn="ctr">
              <a:spcAft>
                <a:spcPts val="1800"/>
              </a:spcAft>
              <a:defRPr sz="2200" b="1">
                <a:solidFill>
                  <a:srgbClr val="39639D"/>
                </a:solidFill>
                <a:latin typeface="맑은 고딕"/>
              </a:defRPr>
            </a:pPr>
            <a:r>
              <a:t>자체 검증 유도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답변 전 자체 점검 수행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기준 충족 여부 스스로 확인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답변 품질의 비약적 향상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5624" y="1691640"/>
            <a:ext cx="2414016" cy="3108960"/>
          </a:xfrm>
          <a:prstGeom prst="roundRect">
            <a:avLst/>
          </a:prstGeom>
          <a:solidFill>
            <a:srgbClr val="FDF0E8"/>
          </a:solidFill>
          <a:ln w="19050">
            <a:solidFill>
              <a:srgbClr val="EB64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bIns="182880" lIns="137160" rIns="137160"/>
          <a:lstStyle/>
          <a:p>
            <a:pPr algn="ctr">
              <a:spcAft>
                <a:spcPts val="1800"/>
              </a:spcAft>
              <a:defRPr sz="2200" b="1">
                <a:solidFill>
                  <a:srgbClr val="EB641B"/>
                </a:solidFill>
                <a:latin typeface="맑은 고딕"/>
              </a:defRPr>
            </a:pPr>
            <a:r>
              <a:t>재작업 80% 단축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한 번에 결재 초안 완성</a:t>
            </a:r>
          </a:p>
          <a:p>
            <a:pPr algn="ctr">
              <a:defRPr sz="1500" b="1">
                <a:solidFill>
                  <a:srgbClr val="464646"/>
                </a:solidFill>
                <a:latin typeface="맑은 고딕"/>
              </a:defRPr>
            </a:pPr>
          </a:p>
          <a:p>
            <a:pPr algn="ctr">
              <a:spcAft>
                <a:spcPts val="1800"/>
              </a:spcAft>
              <a:defRPr sz="1500" b="1">
                <a:solidFill>
                  <a:srgbClr val="464646"/>
                </a:solidFill>
                <a:latin typeface="맑은 고딕"/>
              </a:defRPr>
            </a:pPr>
            <a:r>
              <a:t>반복 질문 없는 업무 완결</a:t>
            </a:r>
          </a:p>
          <a:p>
            <a:pPr algn="ctr">
              <a:defRPr sz="1200">
                <a:solidFill>
                  <a:srgbClr val="464646"/>
                </a:solidFill>
                <a:latin typeface="맑은 고딕"/>
              </a:defRPr>
            </a:pPr>
            <a:r>
              <a:t>퇴근 시간 1시간 단축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 lIns="182880" rIns="182880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완료 기준 단 한 줄 추가가 매일 여러분의 퇴근 시간을 앞당깁니다.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464646"/>
                </a:solidFill>
                <a:latin typeface="맑은 고딕"/>
              </a:defRPr>
            </a:pPr>
            <a:r>
              <a:t>지속 가능한 AI 협업 워크플로우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pPr>
              <a:defRPr sz="1600" b="1">
                <a:solidFill>
                  <a:srgbClr val="2DA2BF"/>
                </a:solidFill>
                <a:latin typeface="맑은 고딕"/>
              </a:defRPr>
            </a:pPr>
            <a:r>
              <a:t>업무의 발견부터 자산화까지 이어지는 전사 업무 선순환 사이클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1173479" cy="594360"/>
          </a:xfrm>
          <a:prstGeom prst="roundRect">
            <a:avLst/>
          </a:prstGeom>
          <a:solidFill>
            <a:srgbClr val="2DA2BF"/>
          </a:solidFill>
          <a:ln w="1270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1.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7839" y="1874519"/>
            <a:ext cx="18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A2B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73152" rIns="73152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귀찮음·관성 포착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5 Whys 본질 규명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50719" y="1874519"/>
            <a:ext cx="1173479" cy="594360"/>
          </a:xfrm>
          <a:prstGeom prst="roundRect">
            <a:avLst/>
          </a:prstGeom>
          <a:solidFill>
            <a:srgbClr val="2DA2BF"/>
          </a:solidFill>
          <a:ln w="1270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2. 공정 분해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199" y="1874519"/>
            <a:ext cx="18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A2B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50719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73152" rIns="73152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큰 단위 업무를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작은 원자 작업 분할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7079" y="1874519"/>
            <a:ext cx="1173479" cy="594360"/>
          </a:xfrm>
          <a:prstGeom prst="roundRect">
            <a:avLst/>
          </a:prstGeom>
          <a:solidFill>
            <a:srgbClr val="2DA2BF"/>
          </a:solidFill>
          <a:ln w="1270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3. 완료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1874519"/>
            <a:ext cx="18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A2B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7079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73152" rIns="73152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통과 조건 수립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3줄 요약·양식 규격화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39" y="1874519"/>
            <a:ext cx="1173479" cy="594360"/>
          </a:xfrm>
          <a:prstGeom prst="roundRect">
            <a:avLst/>
          </a:prstGeom>
          <a:solidFill>
            <a:srgbClr val="39639D"/>
          </a:solidFill>
          <a:ln w="12700">
            <a:solidFill>
              <a:srgbClr val="3963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4. AI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6919" y="1874519"/>
            <a:ext cx="18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A2B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39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73152" rIns="73152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맥락 재료 투입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스킬 기반 초안 도출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9799" y="1874519"/>
            <a:ext cx="1173479" cy="594360"/>
          </a:xfrm>
          <a:prstGeom prst="roundRect">
            <a:avLst/>
          </a:prstGeom>
          <a:solidFill>
            <a:srgbClr val="DEF5FA"/>
          </a:solidFill>
          <a:ln w="1270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DA2BF"/>
                </a:solidFill>
                <a:latin typeface="맑은 고딕"/>
              </a:defRPr>
            </a:pPr>
            <a:r>
              <a:t>5. 검토·확인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3279" y="1874519"/>
            <a:ext cx="182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A2B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9799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73152" rIns="73152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디렉터 팩트체크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수치·논리 최종 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6159" y="1874519"/>
            <a:ext cx="1173479" cy="594360"/>
          </a:xfrm>
          <a:prstGeom prst="roundRect">
            <a:avLst/>
          </a:prstGeom>
          <a:solidFill>
            <a:srgbClr val="DEF5FA"/>
          </a:solidFill>
          <a:ln w="1270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DA2BF"/>
                </a:solidFill>
                <a:latin typeface="맑은 고딕"/>
              </a:defRPr>
            </a:pPr>
            <a:r>
              <a:t>6. 지식 자산화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6159" y="2651760"/>
            <a:ext cx="1173479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73152" rIns="73152"/>
          <a:lstStyle/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해결법 템플릿화</a:t>
            </a:r>
          </a:p>
          <a:p>
            <a:pPr algn="ctr">
              <a:defRPr sz="1100" b="1">
                <a:solidFill>
                  <a:srgbClr val="464646"/>
                </a:solidFill>
                <a:latin typeface="맑은 고딕"/>
              </a:defRPr>
            </a:pPr>
            <a:r>
              <a:t>다음 시간 50% 단축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983480"/>
            <a:ext cx="7955279" cy="621792"/>
          </a:xfrm>
          <a:prstGeom prst="roundRect">
            <a:avLst/>
          </a:prstGeom>
          <a:solidFill>
            <a:srgbClr val="DEF5FA"/>
          </a:solidFill>
          <a:ln w="15240">
            <a:solidFill>
              <a:srgbClr val="2DA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 lIns="182880" rIns="182880"/>
          <a:lstStyle/>
          <a:p>
            <a:pPr algn="ctr">
              <a:defRPr sz="1400" b="1">
                <a:solidFill>
                  <a:srgbClr val="464646"/>
                </a:solidFill>
                <a:latin typeface="맑은 고딕"/>
              </a:defRPr>
            </a:pPr>
            <a:r>
              <a:t>핵심: 1회성 질문에 그치지 않고, 템플릿으로 자산화하여 복리 효율을 만듭니다.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defRPr sz="3200" b="1">
                <a:solidFill>
                  <a:srgbClr val="2DA2BF"/>
                </a:solidFill>
                <a:latin typeface="맑은 고딕"/>
              </a:defRPr>
            </a:pPr>
            <a:r>
              <a:t>경청해 주셔서 감사합니다.</a:t>
            </a:r>
          </a:p>
          <a:p>
            <a:pPr algn="ctr">
              <a:defRPr sz="1800" b="1">
                <a:solidFill>
                  <a:srgbClr val="2DA2BF"/>
                </a:solidFill>
                <a:latin typeface="맑은 고딕"/>
              </a:defRPr>
            </a:pPr>
          </a:p>
          <a:p>
            <a:pPr algn="ctr">
              <a:defRPr sz="1800" b="1">
                <a:solidFill>
                  <a:srgbClr val="2DA2BF"/>
                </a:solidFill>
                <a:latin typeface="맑은 고딕"/>
              </a:defRPr>
            </a:pPr>
            <a:r>
              <a:t>( 질의응답 및 자유 토론 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39639D"/>
      </a:hlink>
      <a:folHlink>
        <a:srgbClr val="343434"/>
      </a:folHlink>
    </a:clrScheme>
    <a:fontScheme name="">
      <a:majorFont>
        <a:latin typeface="맑은 고딕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ujr" typeface="Shruti"/>
        <a:font script="Guru" typeface="Raavi"/>
        <a:font script="Hang" typeface="맑은 고딕"/>
        <a:font script="Hans" typeface="宋体"/>
        <a:font script="Hant" typeface="新細明體"/>
        <a:font script="Hebr" typeface="Times New Roman"/>
        <a:font script="Jpan" typeface="ＭＳ Ｐゴシック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맑은 고딕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ujr" typeface="Shruti"/>
        <a:font script="Guru" typeface="Raavi"/>
        <a:font script="Hang" typeface="맑은 고딕"/>
        <a:font script="Hans" typeface="宋体"/>
        <a:font script="Hant" typeface="新細明體"/>
        <a:font script="Hebr" typeface="Arial"/>
        <a:font script="Jpan" typeface="ＭＳ Ｐ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137</Words>
  <Application>Microsoft Office PowerPoint</Application>
  <PresentationFormat>화면 슬라이드 쇼(4:3)</PresentationFormat>
  <Paragraphs>54</Paragraphs>
  <Slides>12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나눔고딕</vt:lpstr>
      <vt:lpstr>맑은 고딕</vt:lpstr>
      <vt:lpstr>Arial</vt:lpstr>
      <vt:lpstr>Wingdings</vt:lpstr>
      <vt:lpstr/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사이냅소프트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문서의 제목 나눔고딕B, 54pt</dc:title>
  <dc:creator>네이버 한글캠페인</dc:creator>
  <cp:lastModifiedBy>bong-soo.Han</cp:lastModifiedBy>
  <cp:revision>27</cp:revision>
  <dcterms:modified xsi:type="dcterms:W3CDTF">2017-12-06T06:22:04Z</dcterms:modified>
</cp:coreProperties>
</file>